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5" r:id="rId2"/>
  </p:sldMasterIdLst>
  <p:notesMasterIdLst>
    <p:notesMasterId r:id="rId40"/>
  </p:notesMasterIdLst>
  <p:sldIdLst>
    <p:sldId id="257" r:id="rId3"/>
    <p:sldId id="288" r:id="rId4"/>
    <p:sldId id="258" r:id="rId5"/>
    <p:sldId id="290" r:id="rId6"/>
    <p:sldId id="259" r:id="rId7"/>
    <p:sldId id="261" r:id="rId8"/>
    <p:sldId id="262" r:id="rId9"/>
    <p:sldId id="279" r:id="rId10"/>
    <p:sldId id="263" r:id="rId11"/>
    <p:sldId id="304" r:id="rId12"/>
    <p:sldId id="266" r:id="rId13"/>
    <p:sldId id="267" r:id="rId14"/>
    <p:sldId id="271" r:id="rId15"/>
    <p:sldId id="303" r:id="rId16"/>
    <p:sldId id="272" r:id="rId17"/>
    <p:sldId id="268" r:id="rId18"/>
    <p:sldId id="269" r:id="rId19"/>
    <p:sldId id="270" r:id="rId20"/>
    <p:sldId id="273" r:id="rId21"/>
    <p:sldId id="275" r:id="rId22"/>
    <p:sldId id="274" r:id="rId23"/>
    <p:sldId id="276" r:id="rId24"/>
    <p:sldId id="280" r:id="rId25"/>
    <p:sldId id="281" r:id="rId26"/>
    <p:sldId id="302" r:id="rId27"/>
    <p:sldId id="277" r:id="rId28"/>
    <p:sldId id="278" r:id="rId29"/>
    <p:sldId id="292" r:id="rId30"/>
    <p:sldId id="293" r:id="rId31"/>
    <p:sldId id="283" r:id="rId32"/>
    <p:sldId id="294" r:id="rId33"/>
    <p:sldId id="286" r:id="rId34"/>
    <p:sldId id="284" r:id="rId35"/>
    <p:sldId id="287" r:id="rId36"/>
    <p:sldId id="295" r:id="rId37"/>
    <p:sldId id="305" r:id="rId38"/>
    <p:sldId id="298" r:id="rId39"/>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97"/>
    <p:restoredTop sz="94653"/>
  </p:normalViewPr>
  <p:slideViewPr>
    <p:cSldViewPr>
      <p:cViewPr varScale="1">
        <p:scale>
          <a:sx n="137" d="100"/>
          <a:sy n="137" d="100"/>
        </p:scale>
        <p:origin x="448" y="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538067-E6D6-4500-8D73-2354097FBE66}" type="doc">
      <dgm:prSet loTypeId="urn:microsoft.com/office/officeart/2005/8/layout/process4" loCatId="process" qsTypeId="urn:microsoft.com/office/officeart/2005/8/quickstyle/simple2" qsCatId="simple" csTypeId="urn:microsoft.com/office/officeart/2005/8/colors/accent0_1" csCatId="mainScheme"/>
      <dgm:spPr/>
      <dgm:t>
        <a:bodyPr/>
        <a:lstStyle/>
        <a:p>
          <a:endParaRPr lang="en-US"/>
        </a:p>
      </dgm:t>
    </dgm:pt>
    <dgm:pt modelId="{20207DAD-D155-4AAC-B9ED-8DF7F6581AEC}">
      <dgm:prSet/>
      <dgm:spPr/>
      <dgm:t>
        <a:bodyPr/>
        <a:lstStyle/>
        <a:p>
          <a:r>
            <a:rPr lang="en-US" dirty="0">
              <a:latin typeface="Times New Roman" panose="02020603050405020304" pitchFamily="18" charset="0"/>
              <a:cs typeface="Times New Roman" panose="02020603050405020304" pitchFamily="18" charset="0"/>
            </a:rPr>
            <a:t>A bounding box containing the entire person is defined.</a:t>
          </a:r>
        </a:p>
      </dgm:t>
    </dgm:pt>
    <dgm:pt modelId="{F605B6C7-2941-48D4-B213-E91029891F3F}" type="parTrans" cxnId="{032E3B56-E8E0-4F6E-B6A3-77FE8ACFCC26}">
      <dgm:prSet/>
      <dgm:spPr/>
      <dgm:t>
        <a:bodyPr/>
        <a:lstStyle/>
        <a:p>
          <a:endParaRPr lang="en-US"/>
        </a:p>
      </dgm:t>
    </dgm:pt>
    <dgm:pt modelId="{61A1D431-958D-47AF-80F3-5F906B84E3B7}" type="sibTrans" cxnId="{032E3B56-E8E0-4F6E-B6A3-77FE8ACFCC26}">
      <dgm:prSet/>
      <dgm:spPr/>
      <dgm:t>
        <a:bodyPr/>
        <a:lstStyle/>
        <a:p>
          <a:endParaRPr lang="en-US"/>
        </a:p>
      </dgm:t>
    </dgm:pt>
    <dgm:pt modelId="{AF197424-034B-4E97-B46E-377D56657B8B}">
      <dgm:prSet/>
      <dgm:spPr/>
      <dgm:t>
        <a:bodyPr/>
        <a:lstStyle/>
        <a:p>
          <a:r>
            <a:rPr lang="en-US" dirty="0">
              <a:latin typeface="Times New Roman" panose="02020603050405020304" pitchFamily="18" charset="0"/>
              <a:cs typeface="Times New Roman" panose="02020603050405020304" pitchFamily="18" charset="0"/>
            </a:rPr>
            <a:t>The model then estimates 2D human pose information by detecting </a:t>
          </a:r>
          <a:r>
            <a:rPr lang="en-US" dirty="0" err="1">
              <a:latin typeface="Times New Roman" panose="02020603050405020304" pitchFamily="18" charset="0"/>
              <a:cs typeface="Times New Roman" panose="02020603050405020304" pitchFamily="18" charset="0"/>
            </a:rPr>
            <a:t>keypoints</a:t>
          </a:r>
          <a:r>
            <a:rPr lang="en-US" dirty="0">
              <a:latin typeface="Times New Roman" panose="02020603050405020304" pitchFamily="18" charset="0"/>
              <a:cs typeface="Times New Roman" panose="02020603050405020304" pitchFamily="18" charset="0"/>
            </a:rPr>
            <a:t> representing the major body joints.</a:t>
          </a:r>
        </a:p>
      </dgm:t>
    </dgm:pt>
    <dgm:pt modelId="{63C79591-A9E8-4579-8B91-80C8009CF0DF}" type="parTrans" cxnId="{A54B1622-267C-4D59-B2B9-72DBA2DAB693}">
      <dgm:prSet/>
      <dgm:spPr/>
      <dgm:t>
        <a:bodyPr/>
        <a:lstStyle/>
        <a:p>
          <a:endParaRPr lang="en-US"/>
        </a:p>
      </dgm:t>
    </dgm:pt>
    <dgm:pt modelId="{845050C3-0142-4994-BC97-466E2943A668}" type="sibTrans" cxnId="{A54B1622-267C-4D59-B2B9-72DBA2DAB693}">
      <dgm:prSet/>
      <dgm:spPr/>
      <dgm:t>
        <a:bodyPr/>
        <a:lstStyle/>
        <a:p>
          <a:endParaRPr lang="en-US"/>
        </a:p>
      </dgm:t>
    </dgm:pt>
    <dgm:pt modelId="{12FF6470-896A-4C96-99BE-714055CB4CA2}">
      <dgm:prSet/>
      <dgm:spPr/>
      <dgm:t>
        <a:bodyPr/>
        <a:lstStyle/>
        <a:p>
          <a:r>
            <a:rPr lang="en-US" dirty="0">
              <a:latin typeface="Times New Roman" panose="02020603050405020304" pitchFamily="18" charset="0"/>
              <a:cs typeface="Times New Roman" panose="02020603050405020304" pitchFamily="18" charset="0"/>
            </a:rPr>
            <a:t>For each joint, the model outputs its pixel coordinates (x, y).</a:t>
          </a:r>
        </a:p>
      </dgm:t>
    </dgm:pt>
    <dgm:pt modelId="{2249FCB3-8269-4BFF-9988-071A4AD50DC1}" type="parTrans" cxnId="{9DD60413-4E31-4C72-8AD4-5FE672827BF5}">
      <dgm:prSet/>
      <dgm:spPr/>
      <dgm:t>
        <a:bodyPr/>
        <a:lstStyle/>
        <a:p>
          <a:endParaRPr lang="en-US"/>
        </a:p>
      </dgm:t>
    </dgm:pt>
    <dgm:pt modelId="{E679C7EB-B915-4782-AE8D-E8C165D6A99D}" type="sibTrans" cxnId="{9DD60413-4E31-4C72-8AD4-5FE672827BF5}">
      <dgm:prSet/>
      <dgm:spPr/>
      <dgm:t>
        <a:bodyPr/>
        <a:lstStyle/>
        <a:p>
          <a:endParaRPr lang="en-US"/>
        </a:p>
      </dgm:t>
    </dgm:pt>
    <dgm:pt modelId="{8C55D23D-935D-40D9-87E6-0FC899E685F1}" type="pres">
      <dgm:prSet presAssocID="{04538067-E6D6-4500-8D73-2354097FBE66}" presName="Name0" presStyleCnt="0">
        <dgm:presLayoutVars>
          <dgm:dir/>
          <dgm:animLvl val="lvl"/>
          <dgm:resizeHandles val="exact"/>
        </dgm:presLayoutVars>
      </dgm:prSet>
      <dgm:spPr/>
    </dgm:pt>
    <dgm:pt modelId="{31A36013-05EB-4BE7-9631-8F94099BDED8}" type="pres">
      <dgm:prSet presAssocID="{12FF6470-896A-4C96-99BE-714055CB4CA2}" presName="boxAndChildren" presStyleCnt="0"/>
      <dgm:spPr/>
    </dgm:pt>
    <dgm:pt modelId="{DD2EE7AB-B3B4-4457-81A8-873B73DB9788}" type="pres">
      <dgm:prSet presAssocID="{12FF6470-896A-4C96-99BE-714055CB4CA2}" presName="parentTextBox" presStyleLbl="node1" presStyleIdx="0" presStyleCnt="3"/>
      <dgm:spPr/>
    </dgm:pt>
    <dgm:pt modelId="{BDEB348B-8386-40F4-A486-AD90ADBDFE80}" type="pres">
      <dgm:prSet presAssocID="{845050C3-0142-4994-BC97-466E2943A668}" presName="sp" presStyleCnt="0"/>
      <dgm:spPr/>
    </dgm:pt>
    <dgm:pt modelId="{633523E8-C088-4641-A72C-8836BA7DE567}" type="pres">
      <dgm:prSet presAssocID="{AF197424-034B-4E97-B46E-377D56657B8B}" presName="arrowAndChildren" presStyleCnt="0"/>
      <dgm:spPr/>
    </dgm:pt>
    <dgm:pt modelId="{FA4D3AA9-4C7F-4DA1-A5E2-41EB7F2B1D13}" type="pres">
      <dgm:prSet presAssocID="{AF197424-034B-4E97-B46E-377D56657B8B}" presName="parentTextArrow" presStyleLbl="node1" presStyleIdx="1" presStyleCnt="3"/>
      <dgm:spPr/>
    </dgm:pt>
    <dgm:pt modelId="{D1EF05C7-2486-43B4-954C-6E4094443D06}" type="pres">
      <dgm:prSet presAssocID="{61A1D431-958D-47AF-80F3-5F906B84E3B7}" presName="sp" presStyleCnt="0"/>
      <dgm:spPr/>
    </dgm:pt>
    <dgm:pt modelId="{CB6C7F1C-4B79-40F1-820C-0BFF980CD5F0}" type="pres">
      <dgm:prSet presAssocID="{20207DAD-D155-4AAC-B9ED-8DF7F6581AEC}" presName="arrowAndChildren" presStyleCnt="0"/>
      <dgm:spPr/>
    </dgm:pt>
    <dgm:pt modelId="{A7A335C0-E8D0-4F85-A29E-CA680BC676C4}" type="pres">
      <dgm:prSet presAssocID="{20207DAD-D155-4AAC-B9ED-8DF7F6581AEC}" presName="parentTextArrow" presStyleLbl="node1" presStyleIdx="2" presStyleCnt="3"/>
      <dgm:spPr/>
    </dgm:pt>
  </dgm:ptLst>
  <dgm:cxnLst>
    <dgm:cxn modelId="{9DD60413-4E31-4C72-8AD4-5FE672827BF5}" srcId="{04538067-E6D6-4500-8D73-2354097FBE66}" destId="{12FF6470-896A-4C96-99BE-714055CB4CA2}" srcOrd="2" destOrd="0" parTransId="{2249FCB3-8269-4BFF-9988-071A4AD50DC1}" sibTransId="{E679C7EB-B915-4782-AE8D-E8C165D6A99D}"/>
    <dgm:cxn modelId="{00E7AE14-82F0-413D-8771-65085A3FE1C3}" type="presOf" srcId="{AF197424-034B-4E97-B46E-377D56657B8B}" destId="{FA4D3AA9-4C7F-4DA1-A5E2-41EB7F2B1D13}" srcOrd="0" destOrd="0" presId="urn:microsoft.com/office/officeart/2005/8/layout/process4"/>
    <dgm:cxn modelId="{A54B1622-267C-4D59-B2B9-72DBA2DAB693}" srcId="{04538067-E6D6-4500-8D73-2354097FBE66}" destId="{AF197424-034B-4E97-B46E-377D56657B8B}" srcOrd="1" destOrd="0" parTransId="{63C79591-A9E8-4579-8B91-80C8009CF0DF}" sibTransId="{845050C3-0142-4994-BC97-466E2943A668}"/>
    <dgm:cxn modelId="{032E3B56-E8E0-4F6E-B6A3-77FE8ACFCC26}" srcId="{04538067-E6D6-4500-8D73-2354097FBE66}" destId="{20207DAD-D155-4AAC-B9ED-8DF7F6581AEC}" srcOrd="0" destOrd="0" parTransId="{F605B6C7-2941-48D4-B213-E91029891F3F}" sibTransId="{61A1D431-958D-47AF-80F3-5F906B84E3B7}"/>
    <dgm:cxn modelId="{9B633377-8FB3-4EBE-9A40-475579EADBD7}" type="presOf" srcId="{20207DAD-D155-4AAC-B9ED-8DF7F6581AEC}" destId="{A7A335C0-E8D0-4F85-A29E-CA680BC676C4}" srcOrd="0" destOrd="0" presId="urn:microsoft.com/office/officeart/2005/8/layout/process4"/>
    <dgm:cxn modelId="{73C0B8B4-F81B-4C20-92F0-CCC4C29058D2}" type="presOf" srcId="{12FF6470-896A-4C96-99BE-714055CB4CA2}" destId="{DD2EE7AB-B3B4-4457-81A8-873B73DB9788}" srcOrd="0" destOrd="0" presId="urn:microsoft.com/office/officeart/2005/8/layout/process4"/>
    <dgm:cxn modelId="{8AD57ECE-5A05-4FA2-85D9-40742DE0EE4E}" type="presOf" srcId="{04538067-E6D6-4500-8D73-2354097FBE66}" destId="{8C55D23D-935D-40D9-87E6-0FC899E685F1}" srcOrd="0" destOrd="0" presId="urn:microsoft.com/office/officeart/2005/8/layout/process4"/>
    <dgm:cxn modelId="{A8D1ADC1-6C7D-44F3-938A-F55377D5CB5E}" type="presParOf" srcId="{8C55D23D-935D-40D9-87E6-0FC899E685F1}" destId="{31A36013-05EB-4BE7-9631-8F94099BDED8}" srcOrd="0" destOrd="0" presId="urn:microsoft.com/office/officeart/2005/8/layout/process4"/>
    <dgm:cxn modelId="{66BAB2A5-0E92-491B-9266-9F9A8641D380}" type="presParOf" srcId="{31A36013-05EB-4BE7-9631-8F94099BDED8}" destId="{DD2EE7AB-B3B4-4457-81A8-873B73DB9788}" srcOrd="0" destOrd="0" presId="urn:microsoft.com/office/officeart/2005/8/layout/process4"/>
    <dgm:cxn modelId="{F4A8AE0C-582B-4E5F-AE2C-0C197665E53F}" type="presParOf" srcId="{8C55D23D-935D-40D9-87E6-0FC899E685F1}" destId="{BDEB348B-8386-40F4-A486-AD90ADBDFE80}" srcOrd="1" destOrd="0" presId="urn:microsoft.com/office/officeart/2005/8/layout/process4"/>
    <dgm:cxn modelId="{8D33FB78-3CDF-4A4B-961E-8ED3448C3AC7}" type="presParOf" srcId="{8C55D23D-935D-40D9-87E6-0FC899E685F1}" destId="{633523E8-C088-4641-A72C-8836BA7DE567}" srcOrd="2" destOrd="0" presId="urn:microsoft.com/office/officeart/2005/8/layout/process4"/>
    <dgm:cxn modelId="{91C698F1-372D-4AFA-A5C5-2CCB4A02AA73}" type="presParOf" srcId="{633523E8-C088-4641-A72C-8836BA7DE567}" destId="{FA4D3AA9-4C7F-4DA1-A5E2-41EB7F2B1D13}" srcOrd="0" destOrd="0" presId="urn:microsoft.com/office/officeart/2005/8/layout/process4"/>
    <dgm:cxn modelId="{3403016D-5D1E-4EF9-BCAD-75F754ECFE0B}" type="presParOf" srcId="{8C55D23D-935D-40D9-87E6-0FC899E685F1}" destId="{D1EF05C7-2486-43B4-954C-6E4094443D06}" srcOrd="3" destOrd="0" presId="urn:microsoft.com/office/officeart/2005/8/layout/process4"/>
    <dgm:cxn modelId="{AA8107BF-5F6A-4CAA-A6C3-E81C1540436C}" type="presParOf" srcId="{8C55D23D-935D-40D9-87E6-0FC899E685F1}" destId="{CB6C7F1C-4B79-40F1-820C-0BFF980CD5F0}" srcOrd="4" destOrd="0" presId="urn:microsoft.com/office/officeart/2005/8/layout/process4"/>
    <dgm:cxn modelId="{274DDE46-B7A9-4B7B-AC4C-45E46D0C9209}" type="presParOf" srcId="{CB6C7F1C-4B79-40F1-820C-0BFF980CD5F0}" destId="{A7A335C0-E8D0-4F85-A29E-CA680BC676C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2EE7AB-B3B4-4457-81A8-873B73DB9788}">
      <dsp:nvSpPr>
        <dsp:cNvPr id="0" name=""/>
        <dsp:cNvSpPr/>
      </dsp:nvSpPr>
      <dsp:spPr>
        <a:xfrm>
          <a:off x="0" y="2547598"/>
          <a:ext cx="8229600" cy="836178"/>
        </a:xfrm>
        <a:prstGeom prst="rect">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For each joint, the model outputs its pixel coordinates (x, y).</a:t>
          </a:r>
        </a:p>
      </dsp:txBody>
      <dsp:txXfrm>
        <a:off x="0" y="2547598"/>
        <a:ext cx="8229600" cy="836178"/>
      </dsp:txXfrm>
    </dsp:sp>
    <dsp:sp modelId="{FA4D3AA9-4C7F-4DA1-A5E2-41EB7F2B1D13}">
      <dsp:nvSpPr>
        <dsp:cNvPr id="0" name=""/>
        <dsp:cNvSpPr/>
      </dsp:nvSpPr>
      <dsp:spPr>
        <a:xfrm rot="10800000">
          <a:off x="0" y="1274098"/>
          <a:ext cx="8229600" cy="1286043"/>
        </a:xfrm>
        <a:prstGeom prst="upArrowCallout">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The model then estimates 2D human pose information by detecting </a:t>
          </a:r>
          <a:r>
            <a:rPr lang="en-US" sz="2000" kern="1200" dirty="0" err="1">
              <a:latin typeface="Times New Roman" panose="02020603050405020304" pitchFamily="18" charset="0"/>
              <a:cs typeface="Times New Roman" panose="02020603050405020304" pitchFamily="18" charset="0"/>
            </a:rPr>
            <a:t>keypoints</a:t>
          </a:r>
          <a:r>
            <a:rPr lang="en-US" sz="2000" kern="1200" dirty="0">
              <a:latin typeface="Times New Roman" panose="02020603050405020304" pitchFamily="18" charset="0"/>
              <a:cs typeface="Times New Roman" panose="02020603050405020304" pitchFamily="18" charset="0"/>
            </a:rPr>
            <a:t> representing the major body joints.</a:t>
          </a:r>
        </a:p>
      </dsp:txBody>
      <dsp:txXfrm rot="10800000">
        <a:off x="0" y="1274098"/>
        <a:ext cx="8229600" cy="835632"/>
      </dsp:txXfrm>
    </dsp:sp>
    <dsp:sp modelId="{A7A335C0-E8D0-4F85-A29E-CA680BC676C4}">
      <dsp:nvSpPr>
        <dsp:cNvPr id="0" name=""/>
        <dsp:cNvSpPr/>
      </dsp:nvSpPr>
      <dsp:spPr>
        <a:xfrm rot="10800000">
          <a:off x="0" y="598"/>
          <a:ext cx="8229600" cy="1286043"/>
        </a:xfrm>
        <a:prstGeom prst="upArrowCallout">
          <a:avLst/>
        </a:prstGeom>
        <a:solidFill>
          <a:schemeClr val="lt1">
            <a:hueOff val="0"/>
            <a:satOff val="0"/>
            <a:lumOff val="0"/>
            <a:alphaOff val="0"/>
          </a:schemeClr>
        </a:solidFill>
        <a:ln w="38100" cap="flat" cmpd="sng" algn="ctr">
          <a:solidFill>
            <a:schemeClr val="dk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A bounding box containing the entire person is defined.</a:t>
          </a:r>
        </a:p>
      </dsp:txBody>
      <dsp:txXfrm rot="10800000">
        <a:off x="0" y="598"/>
        <a:ext cx="8229600" cy="835632"/>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F6C2C5-899B-4792-93C1-502FE4C5AB7D}"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D20558-BA90-4970-84C2-A1A3270E39C8}" type="slidenum">
              <a:rPr lang="en-US" smtClean="0"/>
              <a:t>‹#›</a:t>
            </a:fld>
            <a:endParaRPr lang="en-US"/>
          </a:p>
        </p:txBody>
      </p:sp>
    </p:spTree>
    <p:extLst>
      <p:ext uri="{BB962C8B-B14F-4D97-AF65-F5344CB8AC3E}">
        <p14:creationId xmlns:p14="http://schemas.microsoft.com/office/powerpoint/2010/main" val="2063999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D20558-BA90-4970-84C2-A1A3270E39C8}" type="slidenum">
              <a:rPr lang="en-US" smtClean="0"/>
              <a:t>9</a:t>
            </a:fld>
            <a:endParaRPr lang="en-US"/>
          </a:p>
        </p:txBody>
      </p:sp>
    </p:spTree>
    <p:extLst>
      <p:ext uri="{BB962C8B-B14F-4D97-AF65-F5344CB8AC3E}">
        <p14:creationId xmlns:p14="http://schemas.microsoft.com/office/powerpoint/2010/main" val="3853696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D20558-BA90-4970-84C2-A1A3270E39C8}" type="slidenum">
              <a:rPr lang="en-US" smtClean="0"/>
              <a:t>10</a:t>
            </a:fld>
            <a:endParaRPr lang="en-US"/>
          </a:p>
        </p:txBody>
      </p:sp>
    </p:spTree>
    <p:extLst>
      <p:ext uri="{BB962C8B-B14F-4D97-AF65-F5344CB8AC3E}">
        <p14:creationId xmlns:p14="http://schemas.microsoft.com/office/powerpoint/2010/main" val="2702146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Octree-based compression solves this by organizing the 3D space hierarchically. The process starts by enclosing the entire point cloud or depth map in a single root cube. This cube is then recursively divided into eight smaller octants. For each octant, the algorithm checks whether it contains any points: if it is empty, it is discarded; if it contains points, it is subdivided further. This subdivision continues until either a specified depth is reached or the octant contains a single point.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Decoding simply reverses this process, reconstructing the hierarchy and recovering the points according to their stored positions and subdivision levels. By focusing only on occupied regions and representing them hierarchically, octree-based compression captures fine details efficiently while keeping the file size much smaller than traditional methods.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1DD20558-BA90-4970-84C2-A1A3270E39C8}" type="slidenum">
              <a:rPr lang="en-US" smtClean="0"/>
              <a:t>17</a:t>
            </a:fld>
            <a:endParaRPr lang="en-US"/>
          </a:p>
        </p:txBody>
      </p:sp>
    </p:spTree>
    <p:extLst>
      <p:ext uri="{BB962C8B-B14F-4D97-AF65-F5344CB8AC3E}">
        <p14:creationId xmlns:p14="http://schemas.microsoft.com/office/powerpoint/2010/main" val="11412834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7022" y="4083918"/>
            <a:ext cx="1227466" cy="720079"/>
          </a:xfrm>
          <a:prstGeom prst="rect">
            <a:avLst/>
          </a:prstGeom>
        </p:spPr>
      </p:pic>
      <p:pic>
        <p:nvPicPr>
          <p:cNvPr id="7" name="Grafik 6"/>
          <p:cNvPicPr>
            <a:picLocks noChangeAspect="1"/>
          </p:cNvPicPr>
          <p:nvPr userDrawn="1"/>
        </p:nvPicPr>
        <p:blipFill rotWithShape="1">
          <a:blip r:embed="rId3" cstate="print">
            <a:extLst>
              <a:ext uri="{28A0092B-C50C-407E-A947-70E740481C1C}">
                <a14:useLocalDpi xmlns:a14="http://schemas.microsoft.com/office/drawing/2010/main" val="0"/>
              </a:ext>
            </a:extLst>
          </a:blip>
          <a:srcRect t="45986" b="8314"/>
          <a:stretch/>
        </p:blipFill>
        <p:spPr>
          <a:xfrm>
            <a:off x="0" y="0"/>
            <a:ext cx="9153525" cy="2789336"/>
          </a:xfrm>
          <a:prstGeom prst="rect">
            <a:avLst/>
          </a:prstGeom>
        </p:spPr>
      </p:pic>
      <p:sp>
        <p:nvSpPr>
          <p:cNvPr id="2" name="Titel 1"/>
          <p:cNvSpPr>
            <a:spLocks noGrp="1"/>
          </p:cNvSpPr>
          <p:nvPr>
            <p:ph type="ctrTitle"/>
          </p:nvPr>
        </p:nvSpPr>
        <p:spPr>
          <a:xfrm>
            <a:off x="685800" y="2765375"/>
            <a:ext cx="7772400" cy="814487"/>
          </a:xfrm>
        </p:spPr>
        <p:txBody>
          <a:bodyPr>
            <a:normAutofit/>
          </a:bodyPr>
          <a:lstStyle>
            <a:lvl1pPr>
              <a:defRPr sz="2800" b="1">
                <a:solidFill>
                  <a:schemeClr val="tx1"/>
                </a:solidFill>
                <a:latin typeface="+mj-lt"/>
                <a:cs typeface="Arial" panose="020B0604020202020204" pitchFamily="34" charset="0"/>
              </a:defRPr>
            </a:lvl1pPr>
          </a:lstStyle>
          <a:p>
            <a:r>
              <a:rPr lang="de-DE" dirty="0"/>
              <a:t>Titelmasterformat durch Klicken bearbeiten</a:t>
            </a:r>
          </a:p>
        </p:txBody>
      </p:sp>
      <p:sp>
        <p:nvSpPr>
          <p:cNvPr id="8" name="Textfeld 7"/>
          <p:cNvSpPr txBox="1"/>
          <p:nvPr userDrawn="1"/>
        </p:nvSpPr>
        <p:spPr>
          <a:xfrm>
            <a:off x="1691680" y="3603669"/>
            <a:ext cx="5760640" cy="1200329"/>
          </a:xfrm>
          <a:prstGeom prst="rect">
            <a:avLst/>
          </a:prstGeom>
          <a:noFill/>
        </p:spPr>
        <p:txBody>
          <a:bodyPr wrap="square" rtlCol="0">
            <a:spAutoFit/>
          </a:bodyPr>
          <a:lstStyle/>
          <a:p>
            <a:pPr algn="ctr"/>
            <a:r>
              <a:rPr lang="de-DE" dirty="0">
                <a:solidFill>
                  <a:schemeClr val="tx1">
                    <a:lumMod val="65000"/>
                    <a:lumOff val="35000"/>
                  </a:schemeClr>
                </a:solidFill>
              </a:rPr>
              <a:t>Khaled Otour</a:t>
            </a:r>
            <a:endParaRPr lang="de-DE" baseline="0" dirty="0">
              <a:solidFill>
                <a:schemeClr val="tx1">
                  <a:lumMod val="65000"/>
                  <a:lumOff val="35000"/>
                </a:schemeClr>
              </a:solidFill>
            </a:endParaRPr>
          </a:p>
          <a:p>
            <a:pPr algn="ctr"/>
            <a:r>
              <a:rPr lang="de-DE" sz="1600" baseline="0" dirty="0">
                <a:solidFill>
                  <a:schemeClr val="tx1">
                    <a:lumMod val="65000"/>
                    <a:lumOff val="35000"/>
                  </a:schemeClr>
                </a:solidFill>
              </a:rPr>
              <a:t>Khaled.otour@fau.de </a:t>
            </a:r>
            <a:br>
              <a:rPr lang="de-DE" sz="1600" baseline="0" dirty="0">
                <a:solidFill>
                  <a:schemeClr val="tx1">
                    <a:lumMod val="65000"/>
                    <a:lumOff val="35000"/>
                  </a:schemeClr>
                </a:solidFill>
              </a:rPr>
            </a:br>
            <a:r>
              <a:rPr lang="de-DE" baseline="0" dirty="0">
                <a:solidFill>
                  <a:schemeClr val="tx1">
                    <a:lumMod val="65000"/>
                    <a:lumOff val="35000"/>
                  </a:schemeClr>
                </a:solidFill>
              </a:rPr>
              <a:t>Lehrstuhl für Multimediakommunikation und Signalverarbeitung</a:t>
            </a:r>
            <a:endParaRPr lang="de-DE" dirty="0">
              <a:solidFill>
                <a:schemeClr val="tx1">
                  <a:lumMod val="65000"/>
                  <a:lumOff val="35000"/>
                </a:schemeClr>
              </a:solidFill>
            </a:endParaRPr>
          </a:p>
        </p:txBody>
      </p:sp>
      <p:sp>
        <p:nvSpPr>
          <p:cNvPr id="13" name="Line 11"/>
          <p:cNvSpPr>
            <a:spLocks noChangeShapeType="1"/>
          </p:cNvSpPr>
          <p:nvPr userDrawn="1"/>
        </p:nvSpPr>
        <p:spPr bwMode="auto">
          <a:xfrm>
            <a:off x="208028" y="4803998"/>
            <a:ext cx="8640960" cy="0"/>
          </a:xfrm>
          <a:prstGeom prst="line">
            <a:avLst/>
          </a:prstGeom>
          <a:noFill/>
          <a:ln w="28575">
            <a:solidFill>
              <a:srgbClr val="CC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4" name="Line 12"/>
          <p:cNvSpPr>
            <a:spLocks noChangeShapeType="1"/>
          </p:cNvSpPr>
          <p:nvPr userDrawn="1"/>
        </p:nvSpPr>
        <p:spPr bwMode="auto">
          <a:xfrm>
            <a:off x="285028" y="4859561"/>
            <a:ext cx="8640960" cy="0"/>
          </a:xfrm>
          <a:prstGeom prst="line">
            <a:avLst/>
          </a:prstGeom>
          <a:noFill/>
          <a:ln w="28575">
            <a:solidFill>
              <a:srgbClr val="99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pic>
        <p:nvPicPr>
          <p:cNvPr id="17" name="Picture 16">
            <a:extLst>
              <a:ext uri="{FF2B5EF4-FFF2-40B4-BE49-F238E27FC236}">
                <a16:creationId xmlns:a16="http://schemas.microsoft.com/office/drawing/2014/main" id="{D8254E61-87B5-DBF6-CE32-753EF3FD0A1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85028" y="4155957"/>
            <a:ext cx="1383091" cy="576000"/>
          </a:xfrm>
          <a:prstGeom prst="rect">
            <a:avLst/>
          </a:prstGeom>
        </p:spPr>
      </p:pic>
    </p:spTree>
    <p:extLst>
      <p:ext uri="{BB962C8B-B14F-4D97-AF65-F5344CB8AC3E}">
        <p14:creationId xmlns:p14="http://schemas.microsoft.com/office/powerpoint/2010/main" val="344414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494410"/>
            <a:ext cx="7772400" cy="1021556"/>
          </a:xfrm>
        </p:spPr>
        <p:txBody>
          <a:bodyPr anchor="t">
            <a:noAutofit/>
          </a:bodyPr>
          <a:lstStyle>
            <a:lvl1pPr algn="l">
              <a:defRPr sz="2800" b="1" cap="all">
                <a:solidFill>
                  <a:schemeClr val="tx1"/>
                </a:solidFill>
              </a:defRPr>
            </a:lvl1pPr>
          </a:lstStyle>
          <a:p>
            <a:r>
              <a:rPr lang="de-DE" dirty="0"/>
              <a:t>Titelmasterformat durch Klicken bearbeiten</a:t>
            </a:r>
          </a:p>
        </p:txBody>
      </p:sp>
      <p:sp>
        <p:nvSpPr>
          <p:cNvPr id="3" name="Textplatzhalter 2"/>
          <p:cNvSpPr>
            <a:spLocks noGrp="1"/>
          </p:cNvSpPr>
          <p:nvPr>
            <p:ph type="body" idx="1"/>
          </p:nvPr>
        </p:nvSpPr>
        <p:spPr>
          <a:xfrm>
            <a:off x="722313" y="2789336"/>
            <a:ext cx="7772400" cy="718518"/>
          </a:xfrm>
        </p:spPr>
        <p:txBody>
          <a:bodyPr anchor="b">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dirty="0"/>
              <a:t>Textmasterformat bearbeiten</a:t>
            </a:r>
          </a:p>
        </p:txBody>
      </p:sp>
      <p:pic>
        <p:nvPicPr>
          <p:cNvPr id="7" name="Grafik 6"/>
          <p:cNvPicPr>
            <a:picLocks noChangeAspect="1"/>
          </p:cNvPicPr>
          <p:nvPr userDrawn="1"/>
        </p:nvPicPr>
        <p:blipFill rotWithShape="1">
          <a:blip r:embed="rId2" cstate="print">
            <a:extLst>
              <a:ext uri="{28A0092B-C50C-407E-A947-70E740481C1C}">
                <a14:useLocalDpi xmlns:a14="http://schemas.microsoft.com/office/drawing/2010/main" val="0"/>
              </a:ext>
            </a:extLst>
          </a:blip>
          <a:srcRect t="45986" b="8314"/>
          <a:stretch/>
        </p:blipFill>
        <p:spPr>
          <a:xfrm>
            <a:off x="0" y="0"/>
            <a:ext cx="9153525" cy="2789336"/>
          </a:xfrm>
          <a:prstGeom prst="rect">
            <a:avLst/>
          </a:prstGeom>
        </p:spPr>
      </p:pic>
      <p:sp>
        <p:nvSpPr>
          <p:cNvPr id="16" name="Line 11"/>
          <p:cNvSpPr>
            <a:spLocks noChangeShapeType="1"/>
          </p:cNvSpPr>
          <p:nvPr userDrawn="1"/>
        </p:nvSpPr>
        <p:spPr bwMode="auto">
          <a:xfrm>
            <a:off x="208028" y="4515966"/>
            <a:ext cx="8640960" cy="0"/>
          </a:xfrm>
          <a:prstGeom prst="line">
            <a:avLst/>
          </a:prstGeom>
          <a:noFill/>
          <a:ln w="28575">
            <a:solidFill>
              <a:srgbClr val="CC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7" name="Line 12"/>
          <p:cNvSpPr>
            <a:spLocks noChangeShapeType="1"/>
          </p:cNvSpPr>
          <p:nvPr userDrawn="1"/>
        </p:nvSpPr>
        <p:spPr bwMode="auto">
          <a:xfrm>
            <a:off x="285028" y="4571529"/>
            <a:ext cx="8640960" cy="0"/>
          </a:xfrm>
          <a:prstGeom prst="line">
            <a:avLst/>
          </a:prstGeom>
          <a:noFill/>
          <a:ln w="28575">
            <a:solidFill>
              <a:srgbClr val="99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76778" y="4587974"/>
            <a:ext cx="859132" cy="504000"/>
          </a:xfrm>
          <a:prstGeom prst="rect">
            <a:avLst/>
          </a:prstGeom>
        </p:spPr>
      </p:pic>
      <p:pic>
        <p:nvPicPr>
          <p:cNvPr id="11" name="Picture 10">
            <a:extLst>
              <a:ext uri="{FF2B5EF4-FFF2-40B4-BE49-F238E27FC236}">
                <a16:creationId xmlns:a16="http://schemas.microsoft.com/office/drawing/2014/main" id="{6B96C722-82F8-0F42-A7EF-F2648112979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85028" y="4632247"/>
            <a:ext cx="1123762" cy="468000"/>
          </a:xfrm>
          <a:prstGeom prst="rect">
            <a:avLst/>
          </a:prstGeom>
        </p:spPr>
      </p:pic>
    </p:spTree>
    <p:extLst>
      <p:ext uri="{BB962C8B-B14F-4D97-AF65-F5344CB8AC3E}">
        <p14:creationId xmlns:p14="http://schemas.microsoft.com/office/powerpoint/2010/main" val="647126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123478"/>
            <a:ext cx="8229600" cy="565571"/>
          </a:xfrm>
        </p:spPr>
        <p:txBody>
          <a:bodyPr>
            <a:noAutofit/>
          </a:bodyPr>
          <a:lstStyle>
            <a:lvl1pPr>
              <a:defRPr sz="2800">
                <a:solidFill>
                  <a:schemeClr val="tx1"/>
                </a:solidFill>
              </a:defRPr>
            </a:lvl1pPr>
          </a:lstStyle>
          <a:p>
            <a:r>
              <a:rPr lang="de-DE" dirty="0"/>
              <a:t>Titelmasterformat durch Klicken bearbeiten</a:t>
            </a:r>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76778" y="4587974"/>
            <a:ext cx="859132" cy="504000"/>
          </a:xfrm>
          <a:prstGeom prst="rect">
            <a:avLst/>
          </a:prstGeom>
        </p:spPr>
      </p:pic>
      <p:sp>
        <p:nvSpPr>
          <p:cNvPr id="11" name="Line 11"/>
          <p:cNvSpPr>
            <a:spLocks noChangeShapeType="1"/>
          </p:cNvSpPr>
          <p:nvPr userDrawn="1"/>
        </p:nvSpPr>
        <p:spPr bwMode="auto">
          <a:xfrm>
            <a:off x="213020" y="699542"/>
            <a:ext cx="8640960" cy="0"/>
          </a:xfrm>
          <a:prstGeom prst="line">
            <a:avLst/>
          </a:prstGeom>
          <a:noFill/>
          <a:ln w="28575">
            <a:solidFill>
              <a:srgbClr val="CC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4" name="Line 12"/>
          <p:cNvSpPr>
            <a:spLocks noChangeShapeType="1"/>
          </p:cNvSpPr>
          <p:nvPr userDrawn="1"/>
        </p:nvSpPr>
        <p:spPr bwMode="auto">
          <a:xfrm>
            <a:off x="290020" y="755105"/>
            <a:ext cx="8640960" cy="0"/>
          </a:xfrm>
          <a:prstGeom prst="line">
            <a:avLst/>
          </a:prstGeom>
          <a:noFill/>
          <a:ln w="28575">
            <a:solidFill>
              <a:srgbClr val="99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6" name="Line 11"/>
          <p:cNvSpPr>
            <a:spLocks noChangeShapeType="1"/>
          </p:cNvSpPr>
          <p:nvPr userDrawn="1"/>
        </p:nvSpPr>
        <p:spPr bwMode="auto">
          <a:xfrm>
            <a:off x="208028" y="4515966"/>
            <a:ext cx="8640960" cy="0"/>
          </a:xfrm>
          <a:prstGeom prst="line">
            <a:avLst/>
          </a:prstGeom>
          <a:noFill/>
          <a:ln w="28575">
            <a:solidFill>
              <a:srgbClr val="CC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7" name="Line 12"/>
          <p:cNvSpPr>
            <a:spLocks noChangeShapeType="1"/>
          </p:cNvSpPr>
          <p:nvPr userDrawn="1"/>
        </p:nvSpPr>
        <p:spPr bwMode="auto">
          <a:xfrm>
            <a:off x="285028" y="4571529"/>
            <a:ext cx="8640960" cy="0"/>
          </a:xfrm>
          <a:prstGeom prst="line">
            <a:avLst/>
          </a:prstGeom>
          <a:noFill/>
          <a:ln w="28575">
            <a:solidFill>
              <a:srgbClr val="99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pic>
        <p:nvPicPr>
          <p:cNvPr id="12" name="Picture 11">
            <a:extLst>
              <a:ext uri="{FF2B5EF4-FFF2-40B4-BE49-F238E27FC236}">
                <a16:creationId xmlns:a16="http://schemas.microsoft.com/office/drawing/2014/main" id="{2B70C317-9C1B-E9DF-8A07-E08F2C7097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028" y="4632247"/>
            <a:ext cx="1123762" cy="468000"/>
          </a:xfrm>
          <a:prstGeom prst="rect">
            <a:avLst/>
          </a:prstGeom>
        </p:spPr>
      </p:pic>
    </p:spTree>
    <p:extLst>
      <p:ext uri="{BB962C8B-B14F-4D97-AF65-F5344CB8AC3E}">
        <p14:creationId xmlns:p14="http://schemas.microsoft.com/office/powerpoint/2010/main" val="3396501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355496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57200" y="987575"/>
            <a:ext cx="4038600" cy="3456384"/>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p:cNvSpPr>
            <a:spLocks noGrp="1"/>
          </p:cNvSpPr>
          <p:nvPr>
            <p:ph sz="half" idx="2"/>
          </p:nvPr>
        </p:nvSpPr>
        <p:spPr>
          <a:xfrm>
            <a:off x="4648200" y="987575"/>
            <a:ext cx="4038600" cy="3456384"/>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521373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915566"/>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457200" y="1419623"/>
            <a:ext cx="4040188" cy="302433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4"/>
          <p:cNvSpPr>
            <a:spLocks noGrp="1"/>
          </p:cNvSpPr>
          <p:nvPr>
            <p:ph type="body" sz="quarter" idx="3"/>
          </p:nvPr>
        </p:nvSpPr>
        <p:spPr>
          <a:xfrm>
            <a:off x="4645025" y="915566"/>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4645025" y="1419623"/>
            <a:ext cx="4041775" cy="302433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1148805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3.emf"/><Relationship Id="rId5" Type="http://schemas.openxmlformats.org/officeDocument/2006/relationships/image" Target="../media/image4.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Autofit/>
          </a:bodyPr>
          <a:lstStyle/>
          <a:p>
            <a:r>
              <a:rPr lang="de-DE" dirty="0"/>
              <a:t>Titelmasterformat durch Klicken bearbeiten</a:t>
            </a:r>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001810638"/>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4" r:id="rId3"/>
  </p:sldLayoutIdLst>
  <p:txStyles>
    <p:titleStyle>
      <a:lvl1pPr algn="ctr" defTabSz="9144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123478"/>
            <a:ext cx="8229600" cy="565175"/>
          </a:xfrm>
          <a:prstGeom prst="rect">
            <a:avLst/>
          </a:prstGeom>
        </p:spPr>
        <p:txBody>
          <a:bodyPr vert="horz" lIns="91440" tIns="45720" rIns="91440" bIns="45720" rtlCol="0" anchor="ctr">
            <a:noAutofit/>
          </a:bodyPr>
          <a:lstStyle/>
          <a:p>
            <a:r>
              <a:rPr lang="de-DE" dirty="0"/>
              <a:t>Titelmasterformat durch Klicken bearbeiten</a:t>
            </a:r>
          </a:p>
        </p:txBody>
      </p:sp>
      <p:sp>
        <p:nvSpPr>
          <p:cNvPr id="3" name="Textplatzhalter 2"/>
          <p:cNvSpPr>
            <a:spLocks noGrp="1"/>
          </p:cNvSpPr>
          <p:nvPr>
            <p:ph type="body" idx="1"/>
          </p:nvPr>
        </p:nvSpPr>
        <p:spPr>
          <a:xfrm>
            <a:off x="457200" y="987575"/>
            <a:ext cx="8229600" cy="3384376"/>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Line 11"/>
          <p:cNvSpPr>
            <a:spLocks noChangeShapeType="1"/>
          </p:cNvSpPr>
          <p:nvPr userDrawn="1"/>
        </p:nvSpPr>
        <p:spPr bwMode="auto">
          <a:xfrm>
            <a:off x="213020" y="699542"/>
            <a:ext cx="8640960" cy="0"/>
          </a:xfrm>
          <a:prstGeom prst="line">
            <a:avLst/>
          </a:prstGeom>
          <a:noFill/>
          <a:ln w="28575">
            <a:solidFill>
              <a:srgbClr val="CC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0" name="Line 12"/>
          <p:cNvSpPr>
            <a:spLocks noChangeShapeType="1"/>
          </p:cNvSpPr>
          <p:nvPr userDrawn="1"/>
        </p:nvSpPr>
        <p:spPr bwMode="auto">
          <a:xfrm>
            <a:off x="290020" y="755105"/>
            <a:ext cx="8640960" cy="0"/>
          </a:xfrm>
          <a:prstGeom prst="line">
            <a:avLst/>
          </a:prstGeom>
          <a:noFill/>
          <a:ln w="28575">
            <a:solidFill>
              <a:srgbClr val="99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1" name="Textfeld 10"/>
          <p:cNvSpPr txBox="1"/>
          <p:nvPr userDrawn="1"/>
        </p:nvSpPr>
        <p:spPr>
          <a:xfrm>
            <a:off x="2375756" y="4856023"/>
            <a:ext cx="4392488" cy="276999"/>
          </a:xfrm>
          <a:prstGeom prst="rect">
            <a:avLst/>
          </a:prstGeom>
          <a:noFill/>
        </p:spPr>
        <p:txBody>
          <a:bodyPr wrap="square" rtlCol="0">
            <a:spAutoFit/>
          </a:bodyPr>
          <a:lstStyle/>
          <a:p>
            <a:pPr algn="ctr"/>
            <a:r>
              <a:rPr lang="de-DE" sz="1200" kern="1200" dirty="0">
                <a:solidFill>
                  <a:schemeClr val="tx1">
                    <a:tint val="75000"/>
                  </a:schemeClr>
                </a:solidFill>
                <a:latin typeface="+mn-lt"/>
                <a:ea typeface="+mn-ea"/>
                <a:cs typeface="+mn-cs"/>
              </a:rPr>
              <a:t>Lehrstuhl für Multimediakommunikation und Signalverarbeitung</a:t>
            </a:r>
          </a:p>
        </p:txBody>
      </p:sp>
      <p:sp>
        <p:nvSpPr>
          <p:cNvPr id="14" name="Textfeld 13"/>
          <p:cNvSpPr txBox="1"/>
          <p:nvPr userDrawn="1"/>
        </p:nvSpPr>
        <p:spPr>
          <a:xfrm>
            <a:off x="2332264" y="4505076"/>
            <a:ext cx="4392488" cy="461665"/>
          </a:xfrm>
          <a:prstGeom prst="rect">
            <a:avLst/>
          </a:prstGeom>
          <a:noFill/>
        </p:spPr>
        <p:txBody>
          <a:bodyPr wrap="square" rtlCol="0">
            <a:spAutoFit/>
          </a:bodyPr>
          <a:lstStyle/>
          <a:p>
            <a:pPr algn="ctr"/>
            <a:r>
              <a:rPr lang="de-DE" sz="1200" kern="1200" dirty="0">
                <a:solidFill>
                  <a:schemeClr val="tx1">
                    <a:tint val="75000"/>
                  </a:schemeClr>
                </a:solidFill>
                <a:latin typeface="+mn-lt"/>
                <a:ea typeface="+mn-ea"/>
                <a:cs typeface="+mn-cs"/>
              </a:rPr>
              <a:t>Khaled Otour</a:t>
            </a:r>
          </a:p>
          <a:p>
            <a:pPr algn="ctr"/>
            <a:r>
              <a:rPr lang="en-US" sz="1200" kern="1200" dirty="0">
                <a:solidFill>
                  <a:schemeClr val="tx1">
                    <a:tint val="75000"/>
                  </a:schemeClr>
                </a:solidFill>
                <a:latin typeface="+mn-lt"/>
                <a:ea typeface="+mn-ea"/>
                <a:cs typeface="+mn-cs"/>
              </a:rPr>
              <a:t>Coding of 3D Kinect Depth Video for Capturing Affective States</a:t>
            </a:r>
            <a:endParaRPr lang="de-DE" sz="1200" kern="1200" dirty="0">
              <a:solidFill>
                <a:schemeClr val="tx1">
                  <a:tint val="75000"/>
                </a:schemeClr>
              </a:solidFill>
              <a:latin typeface="+mn-lt"/>
              <a:ea typeface="+mn-ea"/>
              <a:cs typeface="+mn-cs"/>
            </a:endParaRPr>
          </a:p>
        </p:txBody>
      </p:sp>
      <p:sp>
        <p:nvSpPr>
          <p:cNvPr id="15" name="Textfeld 14"/>
          <p:cNvSpPr txBox="1"/>
          <p:nvPr userDrawn="1"/>
        </p:nvSpPr>
        <p:spPr>
          <a:xfrm>
            <a:off x="7020272" y="4579955"/>
            <a:ext cx="936104" cy="276999"/>
          </a:xfrm>
          <a:prstGeom prst="rect">
            <a:avLst/>
          </a:prstGeom>
          <a:noFill/>
        </p:spPr>
        <p:txBody>
          <a:bodyPr wrap="square" rtlCol="0">
            <a:spAutoFit/>
          </a:bodyPr>
          <a:lstStyle/>
          <a:p>
            <a:pPr algn="r"/>
            <a:r>
              <a:rPr lang="de-DE" sz="1200" kern="1200" dirty="0">
                <a:solidFill>
                  <a:schemeClr val="tx1">
                    <a:tint val="75000"/>
                  </a:schemeClr>
                </a:solidFill>
                <a:latin typeface="+mn-lt"/>
                <a:ea typeface="+mn-ea"/>
                <a:cs typeface="+mn-cs"/>
              </a:rPr>
              <a:t>08.12.2025</a:t>
            </a:r>
          </a:p>
        </p:txBody>
      </p:sp>
      <p:sp>
        <p:nvSpPr>
          <p:cNvPr id="16" name="Textfeld 15"/>
          <p:cNvSpPr txBox="1"/>
          <p:nvPr userDrawn="1"/>
        </p:nvSpPr>
        <p:spPr>
          <a:xfrm>
            <a:off x="7020272" y="4823248"/>
            <a:ext cx="936104" cy="276999"/>
          </a:xfrm>
          <a:prstGeom prst="rect">
            <a:avLst/>
          </a:prstGeom>
          <a:noFill/>
        </p:spPr>
        <p:txBody>
          <a:bodyPr wrap="square" rtlCol="0">
            <a:spAutoFit/>
          </a:bodyPr>
          <a:lstStyle/>
          <a:p>
            <a:pPr algn="r"/>
            <a:r>
              <a:rPr lang="de-DE" sz="1200" kern="1200" dirty="0">
                <a:solidFill>
                  <a:schemeClr val="tx1">
                    <a:tint val="75000"/>
                  </a:schemeClr>
                </a:solidFill>
                <a:latin typeface="+mn-lt"/>
                <a:ea typeface="+mn-ea"/>
                <a:cs typeface="+mn-cs"/>
              </a:rPr>
              <a:t>Seite </a:t>
            </a:r>
            <a:fld id="{AF634817-4550-4D34-8501-C09E3EF797D6}" type="slidenum">
              <a:rPr lang="de-DE" sz="1200" kern="1200" smtClean="0">
                <a:solidFill>
                  <a:schemeClr val="tx1">
                    <a:tint val="75000"/>
                  </a:schemeClr>
                </a:solidFill>
                <a:latin typeface="+mn-lt"/>
                <a:ea typeface="+mn-ea"/>
                <a:cs typeface="+mn-cs"/>
              </a:rPr>
              <a:t>‹#›</a:t>
            </a:fld>
            <a:endParaRPr lang="de-DE" sz="1200" kern="1200" dirty="0">
              <a:solidFill>
                <a:schemeClr val="tx1">
                  <a:tint val="75000"/>
                </a:schemeClr>
              </a:solidFill>
              <a:latin typeface="+mn-lt"/>
              <a:ea typeface="+mn-ea"/>
              <a:cs typeface="+mn-cs"/>
            </a:endParaRPr>
          </a:p>
        </p:txBody>
      </p:sp>
      <p:sp>
        <p:nvSpPr>
          <p:cNvPr id="17" name="Line 11"/>
          <p:cNvSpPr>
            <a:spLocks noChangeShapeType="1"/>
          </p:cNvSpPr>
          <p:nvPr userDrawn="1"/>
        </p:nvSpPr>
        <p:spPr bwMode="auto">
          <a:xfrm>
            <a:off x="208028" y="4515966"/>
            <a:ext cx="8640960" cy="0"/>
          </a:xfrm>
          <a:prstGeom prst="line">
            <a:avLst/>
          </a:prstGeom>
          <a:noFill/>
          <a:ln w="28575">
            <a:solidFill>
              <a:srgbClr val="CC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18" name="Line 12"/>
          <p:cNvSpPr>
            <a:spLocks noChangeShapeType="1"/>
          </p:cNvSpPr>
          <p:nvPr userDrawn="1"/>
        </p:nvSpPr>
        <p:spPr bwMode="auto">
          <a:xfrm>
            <a:off x="285028" y="4571529"/>
            <a:ext cx="8640960" cy="0"/>
          </a:xfrm>
          <a:prstGeom prst="line">
            <a:avLst/>
          </a:prstGeom>
          <a:noFill/>
          <a:ln w="28575">
            <a:solidFill>
              <a:srgbClr val="99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pic>
        <p:nvPicPr>
          <p:cNvPr id="19" name="Grafik 1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076778" y="4587974"/>
            <a:ext cx="859132" cy="504000"/>
          </a:xfrm>
          <a:prstGeom prst="rect">
            <a:avLst/>
          </a:prstGeom>
        </p:spPr>
      </p:pic>
      <p:pic>
        <p:nvPicPr>
          <p:cNvPr id="22" name="Picture 21">
            <a:extLst>
              <a:ext uri="{FF2B5EF4-FFF2-40B4-BE49-F238E27FC236}">
                <a16:creationId xmlns:a16="http://schemas.microsoft.com/office/drawing/2014/main" id="{33A4EC6B-9321-22A3-0FC6-81C1E34A82D7}"/>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85028" y="4632247"/>
            <a:ext cx="1123762" cy="468000"/>
          </a:xfrm>
          <a:prstGeom prst="rect">
            <a:avLst/>
          </a:prstGeom>
        </p:spPr>
      </p:pic>
    </p:spTree>
    <p:extLst>
      <p:ext uri="{BB962C8B-B14F-4D97-AF65-F5344CB8AC3E}">
        <p14:creationId xmlns:p14="http://schemas.microsoft.com/office/powerpoint/2010/main" val="3506201911"/>
      </p:ext>
    </p:extLst>
  </p:cSld>
  <p:clrMap bg1="lt1" tx1="dk1" bg2="lt2" tx2="dk2" accent1="accent1" accent2="accent2" accent3="accent3" accent4="accent4" accent5="accent5" accent6="accent6" hlink="hlink" folHlink="folHlink"/>
  <p:sldLayoutIdLst>
    <p:sldLayoutId id="2147483657" r:id="rId1"/>
    <p:sldLayoutId id="2147483659" r:id="rId2"/>
    <p:sldLayoutId id="2147483660" r:id="rId3"/>
  </p:sldLayoutIdLst>
  <p:txStyles>
    <p:titleStyle>
      <a:lvl1pPr algn="ctr" defTabSz="914400" rtl="0" eaLnBrk="1" latinLnBrk="0" hangingPunct="1">
        <a:spcBef>
          <a:spcPct val="0"/>
        </a:spcBef>
        <a:buNone/>
        <a:defRPr sz="28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42900" y="2859782"/>
            <a:ext cx="8458200" cy="814487"/>
          </a:xfrm>
        </p:spPr>
        <p:txBody>
          <a:bodyPr>
            <a:normAutofit fontScale="90000"/>
          </a:bodyPr>
          <a:lstStyle/>
          <a:p>
            <a:r>
              <a:rPr lang="en-US" dirty="0"/>
              <a:t>Coding of 3D Kinect Depth Video for Capturing Affective States</a:t>
            </a:r>
            <a:endParaRPr lang="de-DE" dirty="0"/>
          </a:p>
        </p:txBody>
      </p:sp>
    </p:spTree>
    <p:extLst>
      <p:ext uri="{BB962C8B-B14F-4D97-AF65-F5344CB8AC3E}">
        <p14:creationId xmlns:p14="http://schemas.microsoft.com/office/powerpoint/2010/main" val="2537835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D8CB-5B9C-44B1-B01E-952B6BFBA72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AA00C670-5851-4388-A4F2-C7611E1229A7}"/>
              </a:ext>
            </a:extLst>
          </p:cNvPr>
          <p:cNvSpPr>
            <a:spLocks noGrp="1"/>
          </p:cNvSpPr>
          <p:nvPr>
            <p:ph idx="1"/>
          </p:nvPr>
        </p:nvSpPr>
        <p:spPr/>
        <p:txBody>
          <a:bodyPr/>
          <a:lstStyle/>
          <a:p>
            <a:r>
              <a:rPr lang="de-DE" sz="2000" dirty="0">
                <a:latin typeface="Times New Roman" panose="02020603050405020304" pitchFamily="18" charset="0"/>
                <a:cs typeface="Times New Roman" panose="02020603050405020304" pitchFamily="18" charset="0"/>
              </a:rPr>
              <a:t>Introduction</a:t>
            </a:r>
          </a:p>
          <a:p>
            <a:r>
              <a:rPr lang="en-US" sz="2000" dirty="0">
                <a:latin typeface="Times New Roman" panose="02020603050405020304" pitchFamily="18" charset="0"/>
                <a:cs typeface="Times New Roman" panose="02020603050405020304" pitchFamily="18" charset="0"/>
              </a:rPr>
              <a:t>Experimental Methods</a:t>
            </a:r>
          </a:p>
          <a:p>
            <a:r>
              <a:rPr lang="en-US" sz="2000" dirty="0">
                <a:latin typeface="Times New Roman" panose="02020603050405020304" pitchFamily="18" charset="0"/>
                <a:cs typeface="Times New Roman" panose="02020603050405020304" pitchFamily="18" charset="0"/>
              </a:rPr>
              <a:t>Depth Compression </a:t>
            </a:r>
          </a:p>
          <a:p>
            <a:r>
              <a:rPr lang="en-US" sz="2000" dirty="0">
                <a:latin typeface="Times New Roman" panose="02020603050405020304" pitchFamily="18" charset="0"/>
                <a:cs typeface="Times New Roman" panose="02020603050405020304" pitchFamily="18" charset="0"/>
              </a:rPr>
              <a:t>Process Framework</a:t>
            </a:r>
          </a:p>
          <a:p>
            <a:r>
              <a:rPr lang="en-US" sz="2000" dirty="0">
                <a:latin typeface="Times New Roman" panose="02020603050405020304" pitchFamily="18" charset="0"/>
                <a:cs typeface="Times New Roman" panose="02020603050405020304" pitchFamily="18" charset="0"/>
              </a:rPr>
              <a:t>Results </a:t>
            </a:r>
          </a:p>
          <a:p>
            <a:r>
              <a:rPr lang="en-US" sz="2000" dirty="0">
                <a:latin typeface="Times New Roman" panose="02020603050405020304" pitchFamily="18" charset="0"/>
                <a:cs typeface="Times New Roman" panose="02020603050405020304" pitchFamily="18" charset="0"/>
              </a:rPr>
              <a:t>Conclusion</a:t>
            </a:r>
          </a:p>
          <a:p>
            <a:r>
              <a:rPr lang="en-US" sz="2000" dirty="0">
                <a:latin typeface="Times New Roman" panose="02020603050405020304" pitchFamily="18" charset="0"/>
                <a:cs typeface="Times New Roman" panose="02020603050405020304" pitchFamily="18" charset="0"/>
              </a:rPr>
              <a:t>Future Work</a:t>
            </a:r>
          </a:p>
          <a:p>
            <a:endParaRPr lang="en-US" dirty="0"/>
          </a:p>
          <a:p>
            <a:endParaRPr lang="en-US" dirty="0"/>
          </a:p>
          <a:p>
            <a:endParaRPr lang="de-DE" dirty="0"/>
          </a:p>
          <a:p>
            <a:endParaRPr lang="de-DE" dirty="0"/>
          </a:p>
          <a:p>
            <a:endParaRPr lang="en-US" dirty="0"/>
          </a:p>
        </p:txBody>
      </p:sp>
    </p:spTree>
    <p:extLst>
      <p:ext uri="{BB962C8B-B14F-4D97-AF65-F5344CB8AC3E}">
        <p14:creationId xmlns:p14="http://schemas.microsoft.com/office/powerpoint/2010/main" val="1945155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28217-0BBD-4DE1-A4C1-25CC0D87F3FA}"/>
              </a:ext>
            </a:extLst>
          </p:cNvPr>
          <p:cNvSpPr>
            <a:spLocks noGrp="1"/>
          </p:cNvSpPr>
          <p:nvPr>
            <p:ph type="title"/>
          </p:nvPr>
        </p:nvSpPr>
        <p:spPr/>
        <p:txBody>
          <a:bodyPr/>
          <a:lstStyle/>
          <a:p>
            <a:r>
              <a:rPr lang="de-DE"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4FE649-8A69-4A60-B59F-2E4587E8721A}"/>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A Depth image is a 2D image where each pixel’s value encodes the distance between the camera</a:t>
            </a:r>
            <a:r>
              <a:rPr lang="ar-SY"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 the object surface at that pixel [1].</a:t>
            </a:r>
          </a:p>
          <a:p>
            <a:pPr marL="0" indent="0">
              <a:buNone/>
            </a:pP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Instead of storing intensity or RGB values, a depth image stores geometric information [1].</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raw depth image encodes metric depth values → used for computation, reconstruction, or geometry [2].</a:t>
            </a:r>
          </a:p>
        </p:txBody>
      </p:sp>
    </p:spTree>
    <p:extLst>
      <p:ext uri="{BB962C8B-B14F-4D97-AF65-F5344CB8AC3E}">
        <p14:creationId xmlns:p14="http://schemas.microsoft.com/office/powerpoint/2010/main" val="3614363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28217-0BBD-4DE1-A4C1-25CC0D87F3FA}"/>
              </a:ext>
            </a:extLst>
          </p:cNvPr>
          <p:cNvSpPr>
            <a:spLocks noGrp="1"/>
          </p:cNvSpPr>
          <p:nvPr>
            <p:ph type="title"/>
          </p:nvPr>
        </p:nvSpPr>
        <p:spPr/>
        <p:txBody>
          <a:bodyPr/>
          <a:lstStyle/>
          <a:p>
            <a:r>
              <a:rPr lang="de-DE"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4FE649-8A69-4A60-B59F-2E4587E8721A}"/>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Depth images are powerful because they add geometric context. Some major applications:</a:t>
            </a:r>
          </a:p>
          <a:p>
            <a:pPr marL="0" indent="0">
              <a:buNone/>
            </a:pPr>
            <a:r>
              <a:rPr lang="en-US" sz="2000" dirty="0">
                <a:latin typeface="Times New Roman" panose="02020603050405020304" pitchFamily="18" charset="0"/>
                <a:cs typeface="Times New Roman" panose="02020603050405020304" pitchFamily="18" charset="0"/>
              </a:rPr>
              <a:t> </a:t>
            </a:r>
          </a:p>
          <a:p>
            <a:pPr marL="717550" indent="-427038">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3D Reconstruction &amp; Point Clouds [3]</a:t>
            </a:r>
          </a:p>
          <a:p>
            <a:pPr marL="717550" indent="-427038">
              <a:buFont typeface="Courier New" panose="02070309020205020404" pitchFamily="49" charset="0"/>
              <a:buChar char="o"/>
            </a:pPr>
            <a:endParaRPr lang="en-US" sz="2000" dirty="0">
              <a:latin typeface="Times New Roman" panose="02020603050405020304" pitchFamily="18" charset="0"/>
              <a:cs typeface="Times New Roman" panose="02020603050405020304" pitchFamily="18" charset="0"/>
            </a:endParaRPr>
          </a:p>
          <a:p>
            <a:pPr marL="717550" indent="-427038">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Segmentation / Foreground–Background Separation[4]</a:t>
            </a:r>
          </a:p>
        </p:txBody>
      </p:sp>
    </p:spTree>
    <p:extLst>
      <p:ext uri="{BB962C8B-B14F-4D97-AF65-F5344CB8AC3E}">
        <p14:creationId xmlns:p14="http://schemas.microsoft.com/office/powerpoint/2010/main" val="2772453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E8429-4C29-4AD9-9396-6A4AEB1E14D5}"/>
              </a:ext>
            </a:extLst>
          </p:cNvPr>
          <p:cNvSpPr>
            <a:spLocks noGrp="1"/>
          </p:cNvSpPr>
          <p:nvPr>
            <p:ph type="title"/>
          </p:nvPr>
        </p:nvSpPr>
        <p:spPr/>
        <p:txBody>
          <a:bodyPr/>
          <a:lstStyle/>
          <a:p>
            <a:r>
              <a:rPr lang="de-DE"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B5194D-3D34-4808-BFC2-E42373ABBD85}"/>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Most methods focus primarily on capturing frames rather than storing them efficiently.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Which motivating investigations into methods to compress frames and store them while ensuring high quality, accuracy, and reduced storage requirements.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 this context, finding better ways to compress depth frames has become important for improving how efficiently we can process and transfer data.</a:t>
            </a:r>
          </a:p>
        </p:txBody>
      </p:sp>
    </p:spTree>
    <p:extLst>
      <p:ext uri="{BB962C8B-B14F-4D97-AF65-F5344CB8AC3E}">
        <p14:creationId xmlns:p14="http://schemas.microsoft.com/office/powerpoint/2010/main" val="2242352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916EC-D49B-4202-BCB6-FBB43EA8F564}"/>
              </a:ext>
            </a:extLst>
          </p:cNvPr>
          <p:cNvSpPr>
            <a:spLocks noGrp="1"/>
          </p:cNvSpPr>
          <p:nvPr>
            <p:ph type="title"/>
          </p:nvPr>
        </p:nvSpPr>
        <p:spPr/>
        <p:txBody>
          <a:bodyPr/>
          <a:lstStyle/>
          <a:p>
            <a:r>
              <a:rPr lang="de-DE"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F3AC0E-B250-4430-9277-71DE0A7441A5}"/>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This research explores several approaches for compressing depth frames captured from Kinect recordings to minimize file size while maintaining visual clarity.</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focus is particularly placed on the tracked human body where high precision is necessary for tasks such as movement analysis and pose estimation.</a:t>
            </a:r>
          </a:p>
        </p:txBody>
      </p:sp>
    </p:spTree>
    <p:extLst>
      <p:ext uri="{BB962C8B-B14F-4D97-AF65-F5344CB8AC3E}">
        <p14:creationId xmlns:p14="http://schemas.microsoft.com/office/powerpoint/2010/main" val="3894273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3AB17-AB81-4BC0-8D46-D64F8A2EC80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Experimental Methods</a:t>
            </a:r>
          </a:p>
        </p:txBody>
      </p:sp>
      <p:sp>
        <p:nvSpPr>
          <p:cNvPr id="3" name="Content Placeholder 2">
            <a:extLst>
              <a:ext uri="{FF2B5EF4-FFF2-40B4-BE49-F238E27FC236}">
                <a16:creationId xmlns:a16="http://schemas.microsoft.com/office/drawing/2014/main" id="{6E4A789D-57DE-4314-8067-E59A96A52E68}"/>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Full-depth frame: The original depth frame is compressed without any changes.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Body frame: Only the human body is extracted from each frame, with the background removed.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3D body reconstruction: Building on (Body frame), a 3D point cloud of the detected human body is reconstructed. </a:t>
            </a:r>
          </a:p>
        </p:txBody>
      </p:sp>
    </p:spTree>
    <p:extLst>
      <p:ext uri="{BB962C8B-B14F-4D97-AF65-F5344CB8AC3E}">
        <p14:creationId xmlns:p14="http://schemas.microsoft.com/office/powerpoint/2010/main" val="2251549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0F70D-BD33-471F-9289-97CC13552BE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Dataset Description</a:t>
            </a:r>
          </a:p>
        </p:txBody>
      </p:sp>
      <p:sp>
        <p:nvSpPr>
          <p:cNvPr id="3" name="Content Placeholder 2">
            <a:extLst>
              <a:ext uri="{FF2B5EF4-FFF2-40B4-BE49-F238E27FC236}">
                <a16:creationId xmlns:a16="http://schemas.microsoft.com/office/drawing/2014/main" id="{9B33BECE-7057-4CA4-8A2F-E011E67A55EA}"/>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mkv</a:t>
            </a:r>
            <a:r>
              <a:rPr lang="en-US" sz="2000" dirty="0">
                <a:latin typeface="Times New Roman" panose="02020603050405020304" pitchFamily="18" charset="0"/>
                <a:cs typeface="Times New Roman" panose="02020603050405020304" pitchFamily="18" charset="0"/>
              </a:rPr>
              <a:t> videos recorded using Kinect Azure device[7]</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RGB 1920 x 1080 , 8 bit @ 30 fps  </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Depth 640 x 576 , 16 bit @ 30 fps </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Metadata (Camera alignment parameters)</a:t>
            </a:r>
          </a:p>
          <a:p>
            <a:endParaRPr lang="en-US" dirty="0"/>
          </a:p>
          <a:p>
            <a:endParaRPr lang="en-US" dirty="0"/>
          </a:p>
        </p:txBody>
      </p:sp>
    </p:spTree>
    <p:extLst>
      <p:ext uri="{BB962C8B-B14F-4D97-AF65-F5344CB8AC3E}">
        <p14:creationId xmlns:p14="http://schemas.microsoft.com/office/powerpoint/2010/main" val="2190501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07FDD-FE16-42FB-A09D-63E68079A27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Depth Image compression</a:t>
            </a:r>
          </a:p>
        </p:txBody>
      </p:sp>
      <p:sp>
        <p:nvSpPr>
          <p:cNvPr id="3" name="Content Placeholder 2">
            <a:extLst>
              <a:ext uri="{FF2B5EF4-FFF2-40B4-BE49-F238E27FC236}">
                <a16:creationId xmlns:a16="http://schemas.microsoft.com/office/drawing/2014/main" id="{3E448458-6B79-4C52-BCB9-8CDEF7B1F279}"/>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Depth image compression has gained significant attention due to its various applications.</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Traditional lossless compression methods, such as PNG, rely on predictive coding and context modeling to achieve efficient compression.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PNG compression is used because it preserves the image quality while reducing file size[8].</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110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07FDD-FE16-42FB-A09D-63E68079A27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Depth Image compression</a:t>
            </a:r>
          </a:p>
        </p:txBody>
      </p:sp>
      <p:sp>
        <p:nvSpPr>
          <p:cNvPr id="3" name="Content Placeholder 2">
            <a:extLst>
              <a:ext uri="{FF2B5EF4-FFF2-40B4-BE49-F238E27FC236}">
                <a16:creationId xmlns:a16="http://schemas.microsoft.com/office/drawing/2014/main" id="{3E448458-6B79-4C52-BCB9-8CDEF7B1F279}"/>
              </a:ext>
            </a:extLst>
          </p:cNvPr>
          <p:cNvSpPr>
            <a:spLocks noGrp="1"/>
          </p:cNvSpPr>
          <p:nvPr>
            <p:ph idx="1"/>
          </p:nvPr>
        </p:nvSpPr>
        <p:spPr/>
        <p:txBody>
          <a:bodyPr>
            <a:normAutofit/>
          </a:bodyPr>
          <a:lstStyle/>
          <a:p>
            <a:endParaRPr lang="en-US" sz="20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BBAB06EC-5A97-4EF9-AC9E-F645C793F57E}"/>
              </a:ext>
            </a:extLst>
          </p:cNvPr>
          <p:cNvSpPr/>
          <p:nvPr/>
        </p:nvSpPr>
        <p:spPr>
          <a:xfrm>
            <a:off x="755576" y="1558728"/>
            <a:ext cx="1224136"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Raw Pixel Data</a:t>
            </a:r>
          </a:p>
        </p:txBody>
      </p:sp>
      <p:sp>
        <p:nvSpPr>
          <p:cNvPr id="5" name="Rectangle 4">
            <a:extLst>
              <a:ext uri="{FF2B5EF4-FFF2-40B4-BE49-F238E27FC236}">
                <a16:creationId xmlns:a16="http://schemas.microsoft.com/office/drawing/2014/main" id="{01EBD547-ACEB-4187-98AA-8CBAEE10E81E}"/>
              </a:ext>
            </a:extLst>
          </p:cNvPr>
          <p:cNvSpPr/>
          <p:nvPr/>
        </p:nvSpPr>
        <p:spPr>
          <a:xfrm>
            <a:off x="2556488" y="1558728"/>
            <a:ext cx="1224136"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PNG Filtering</a:t>
            </a:r>
          </a:p>
        </p:txBody>
      </p:sp>
      <p:sp>
        <p:nvSpPr>
          <p:cNvPr id="6" name="Rectangle 5">
            <a:extLst>
              <a:ext uri="{FF2B5EF4-FFF2-40B4-BE49-F238E27FC236}">
                <a16:creationId xmlns:a16="http://schemas.microsoft.com/office/drawing/2014/main" id="{9FF3BBFF-9D13-4FA6-9ED4-924C8D79C55A}"/>
              </a:ext>
            </a:extLst>
          </p:cNvPr>
          <p:cNvSpPr/>
          <p:nvPr/>
        </p:nvSpPr>
        <p:spPr>
          <a:xfrm>
            <a:off x="4357400" y="1558728"/>
            <a:ext cx="1440160"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DEFLATE Compression</a:t>
            </a:r>
          </a:p>
        </p:txBody>
      </p:sp>
      <p:sp>
        <p:nvSpPr>
          <p:cNvPr id="7" name="Rectangle 6">
            <a:extLst>
              <a:ext uri="{FF2B5EF4-FFF2-40B4-BE49-F238E27FC236}">
                <a16:creationId xmlns:a16="http://schemas.microsoft.com/office/drawing/2014/main" id="{CEB6A9BF-0818-492B-B8C1-AC220DFFF8E0}"/>
              </a:ext>
            </a:extLst>
          </p:cNvPr>
          <p:cNvSpPr/>
          <p:nvPr/>
        </p:nvSpPr>
        <p:spPr>
          <a:xfrm>
            <a:off x="6374336" y="1558728"/>
            <a:ext cx="1440160"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PNG Chunk Construction </a:t>
            </a:r>
          </a:p>
        </p:txBody>
      </p:sp>
      <p:sp>
        <p:nvSpPr>
          <p:cNvPr id="8" name="Rectangle 7">
            <a:extLst>
              <a:ext uri="{FF2B5EF4-FFF2-40B4-BE49-F238E27FC236}">
                <a16:creationId xmlns:a16="http://schemas.microsoft.com/office/drawing/2014/main" id="{9C4095CD-838C-4CF5-BC84-020526615948}"/>
              </a:ext>
            </a:extLst>
          </p:cNvPr>
          <p:cNvSpPr/>
          <p:nvPr/>
        </p:nvSpPr>
        <p:spPr>
          <a:xfrm>
            <a:off x="6374336" y="2865762"/>
            <a:ext cx="1440160"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Decode PNG Chunk Structure</a:t>
            </a:r>
          </a:p>
        </p:txBody>
      </p:sp>
      <p:cxnSp>
        <p:nvCxnSpPr>
          <p:cNvPr id="9" name="Straight Arrow Connector 8">
            <a:extLst>
              <a:ext uri="{FF2B5EF4-FFF2-40B4-BE49-F238E27FC236}">
                <a16:creationId xmlns:a16="http://schemas.microsoft.com/office/drawing/2014/main" id="{79220378-BBFD-49DF-BD51-2423F9E61939}"/>
              </a:ext>
            </a:extLst>
          </p:cNvPr>
          <p:cNvCxnSpPr>
            <a:cxnSpLocks/>
            <a:stCxn id="4" idx="3"/>
            <a:endCxn id="5" idx="1"/>
          </p:cNvCxnSpPr>
          <p:nvPr/>
        </p:nvCxnSpPr>
        <p:spPr>
          <a:xfrm>
            <a:off x="1979712" y="2062784"/>
            <a:ext cx="576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D0C42268-C9CE-45D2-A51B-FC8C99303079}"/>
              </a:ext>
            </a:extLst>
          </p:cNvPr>
          <p:cNvCxnSpPr/>
          <p:nvPr/>
        </p:nvCxnSpPr>
        <p:spPr>
          <a:xfrm>
            <a:off x="3780624" y="2062784"/>
            <a:ext cx="576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0D008AC3-6646-4A8C-805B-637378FE64C0}"/>
              </a:ext>
            </a:extLst>
          </p:cNvPr>
          <p:cNvCxnSpPr/>
          <p:nvPr/>
        </p:nvCxnSpPr>
        <p:spPr>
          <a:xfrm>
            <a:off x="5797560" y="2062784"/>
            <a:ext cx="576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Rectangle 12">
            <a:extLst>
              <a:ext uri="{FF2B5EF4-FFF2-40B4-BE49-F238E27FC236}">
                <a16:creationId xmlns:a16="http://schemas.microsoft.com/office/drawing/2014/main" id="{C80AF26E-5DBD-40C0-B1CC-3020C7817E5C}"/>
              </a:ext>
            </a:extLst>
          </p:cNvPr>
          <p:cNvSpPr/>
          <p:nvPr/>
        </p:nvSpPr>
        <p:spPr>
          <a:xfrm>
            <a:off x="8172400" y="1558728"/>
            <a:ext cx="362175" cy="2453182"/>
          </a:xfrm>
          <a:prstGeom prst="rect">
            <a:avLst/>
          </a:prstGeom>
        </p:spPr>
        <p:style>
          <a:lnRef idx="2">
            <a:schemeClr val="dk1"/>
          </a:lnRef>
          <a:fillRef idx="1">
            <a:schemeClr val="lt1"/>
          </a:fillRef>
          <a:effectRef idx="0">
            <a:schemeClr val="dk1"/>
          </a:effectRef>
          <a:fontRef idx="minor">
            <a:schemeClr val="dk1"/>
          </a:fontRef>
        </p:style>
        <p:txBody>
          <a:bodyPr vert="vert" rtlCol="0" anchor="ctr"/>
          <a:lstStyle/>
          <a:p>
            <a:pPr algn="ctr"/>
            <a:r>
              <a:rPr lang="en-US" dirty="0">
                <a:latin typeface="Times New Roman" panose="02020603050405020304" pitchFamily="18" charset="0"/>
                <a:cs typeface="Times New Roman" panose="02020603050405020304" pitchFamily="18" charset="0"/>
              </a:rPr>
              <a:t>PNG File</a:t>
            </a:r>
          </a:p>
        </p:txBody>
      </p:sp>
      <p:cxnSp>
        <p:nvCxnSpPr>
          <p:cNvPr id="14" name="Straight Arrow Connector 13">
            <a:extLst>
              <a:ext uri="{FF2B5EF4-FFF2-40B4-BE49-F238E27FC236}">
                <a16:creationId xmlns:a16="http://schemas.microsoft.com/office/drawing/2014/main" id="{C49DBDAA-6151-4A36-A991-950C163079DB}"/>
              </a:ext>
            </a:extLst>
          </p:cNvPr>
          <p:cNvCxnSpPr>
            <a:cxnSpLocks/>
          </p:cNvCxnSpPr>
          <p:nvPr/>
        </p:nvCxnSpPr>
        <p:spPr>
          <a:xfrm>
            <a:off x="7814496" y="2064651"/>
            <a:ext cx="3579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Rectangle 16">
            <a:extLst>
              <a:ext uri="{FF2B5EF4-FFF2-40B4-BE49-F238E27FC236}">
                <a16:creationId xmlns:a16="http://schemas.microsoft.com/office/drawing/2014/main" id="{F34393CA-EA8E-4A82-B0B8-CE442D2AC61F}"/>
              </a:ext>
            </a:extLst>
          </p:cNvPr>
          <p:cNvSpPr/>
          <p:nvPr/>
        </p:nvSpPr>
        <p:spPr>
          <a:xfrm>
            <a:off x="4357400" y="2870587"/>
            <a:ext cx="1440160"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Decompress Data</a:t>
            </a:r>
          </a:p>
        </p:txBody>
      </p:sp>
      <p:sp>
        <p:nvSpPr>
          <p:cNvPr id="19" name="Rectangle 18">
            <a:extLst>
              <a:ext uri="{FF2B5EF4-FFF2-40B4-BE49-F238E27FC236}">
                <a16:creationId xmlns:a16="http://schemas.microsoft.com/office/drawing/2014/main" id="{7FB0BFC8-BE1D-454C-B7C6-8959471E95B3}"/>
              </a:ext>
            </a:extLst>
          </p:cNvPr>
          <p:cNvSpPr/>
          <p:nvPr/>
        </p:nvSpPr>
        <p:spPr>
          <a:xfrm>
            <a:off x="2556488" y="2865762"/>
            <a:ext cx="1315442"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Reverse PNG Filters </a:t>
            </a:r>
          </a:p>
        </p:txBody>
      </p:sp>
      <p:sp>
        <p:nvSpPr>
          <p:cNvPr id="20" name="Rectangle 19">
            <a:extLst>
              <a:ext uri="{FF2B5EF4-FFF2-40B4-BE49-F238E27FC236}">
                <a16:creationId xmlns:a16="http://schemas.microsoft.com/office/drawing/2014/main" id="{4182D4A1-917C-42EF-BA74-0C3774CBBA3E}"/>
              </a:ext>
            </a:extLst>
          </p:cNvPr>
          <p:cNvSpPr/>
          <p:nvPr/>
        </p:nvSpPr>
        <p:spPr>
          <a:xfrm>
            <a:off x="755576" y="2865762"/>
            <a:ext cx="1224136"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Raw Pixel Data</a:t>
            </a:r>
          </a:p>
        </p:txBody>
      </p:sp>
      <p:cxnSp>
        <p:nvCxnSpPr>
          <p:cNvPr id="22" name="Straight Arrow Connector 21">
            <a:extLst>
              <a:ext uri="{FF2B5EF4-FFF2-40B4-BE49-F238E27FC236}">
                <a16:creationId xmlns:a16="http://schemas.microsoft.com/office/drawing/2014/main" id="{48AE25B4-3056-489F-A8AB-5E9D852CDA51}"/>
              </a:ext>
            </a:extLst>
          </p:cNvPr>
          <p:cNvCxnSpPr>
            <a:endCxn id="8" idx="3"/>
          </p:cNvCxnSpPr>
          <p:nvPr/>
        </p:nvCxnSpPr>
        <p:spPr>
          <a:xfrm flipH="1">
            <a:off x="7814496" y="3369818"/>
            <a:ext cx="3579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590516C6-7EDB-4B83-AEF7-F28C2DAF1041}"/>
              </a:ext>
            </a:extLst>
          </p:cNvPr>
          <p:cNvCxnSpPr>
            <a:cxnSpLocks/>
          </p:cNvCxnSpPr>
          <p:nvPr/>
        </p:nvCxnSpPr>
        <p:spPr>
          <a:xfrm flipH="1">
            <a:off x="5797560" y="3361045"/>
            <a:ext cx="576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6F3F701D-EF85-4C84-A313-CC1D9D9F7237}"/>
              </a:ext>
            </a:extLst>
          </p:cNvPr>
          <p:cNvCxnSpPr>
            <a:cxnSpLocks/>
          </p:cNvCxnSpPr>
          <p:nvPr/>
        </p:nvCxnSpPr>
        <p:spPr>
          <a:xfrm flipH="1">
            <a:off x="3871930" y="3291830"/>
            <a:ext cx="48547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a:extLst>
              <a:ext uri="{FF2B5EF4-FFF2-40B4-BE49-F238E27FC236}">
                <a16:creationId xmlns:a16="http://schemas.microsoft.com/office/drawing/2014/main" id="{6BAB9C9B-D52E-4F4D-9F3E-331BD1428984}"/>
              </a:ext>
            </a:extLst>
          </p:cNvPr>
          <p:cNvCxnSpPr>
            <a:cxnSpLocks/>
          </p:cNvCxnSpPr>
          <p:nvPr/>
        </p:nvCxnSpPr>
        <p:spPr>
          <a:xfrm flipH="1">
            <a:off x="1979712" y="3291830"/>
            <a:ext cx="576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00063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2E184-9007-4266-8BC6-52905F72737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ROI (Region of Interest) Compression</a:t>
            </a:r>
          </a:p>
        </p:txBody>
      </p:sp>
      <p:sp>
        <p:nvSpPr>
          <p:cNvPr id="3" name="Content Placeholder 2">
            <a:extLst>
              <a:ext uri="{FF2B5EF4-FFF2-40B4-BE49-F238E27FC236}">
                <a16:creationId xmlns:a16="http://schemas.microsoft.com/office/drawing/2014/main" id="{9F66F815-0847-46F2-9043-985DDA486A87}"/>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Foreground-background segmentation has emerged as a crucial technique in depth image compression. </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particularly when the goal is to preserve important regions such as humans, while compressing less critical areas more aggressively [6].</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580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FEAC-7527-4323-9506-9738B7938D04}"/>
              </a:ext>
            </a:extLst>
          </p:cNvPr>
          <p:cNvSpPr>
            <a:spLocks noGrp="1"/>
          </p:cNvSpPr>
          <p:nvPr>
            <p:ph type="title"/>
          </p:nvPr>
        </p:nvSpPr>
        <p:spPr>
          <a:xfrm>
            <a:off x="457200" y="123478"/>
            <a:ext cx="8229600" cy="565175"/>
          </a:xfrm>
        </p:spPr>
        <p:txBody>
          <a:bodyPr anchor="ctr">
            <a:normAutofit/>
          </a:bodyPr>
          <a:lstStyle/>
          <a:p>
            <a:r>
              <a:rPr lang="en-US" dirty="0">
                <a:latin typeface="Times New Roman" panose="02020603050405020304" pitchFamily="18" charset="0"/>
                <a:cs typeface="Times New Roman" panose="02020603050405020304" pitchFamily="18" charset="0"/>
              </a:rPr>
              <a:t>ROI (Region of Interest) Compression</a:t>
            </a:r>
          </a:p>
        </p:txBody>
      </p:sp>
      <p:pic>
        <p:nvPicPr>
          <p:cNvPr id="5" name="Content Placeholder 4">
            <a:extLst>
              <a:ext uri="{FF2B5EF4-FFF2-40B4-BE49-F238E27FC236}">
                <a16:creationId xmlns:a16="http://schemas.microsoft.com/office/drawing/2014/main" id="{6BFF0B23-A33A-41AD-AC03-6FEDD133C964}"/>
              </a:ext>
            </a:extLst>
          </p:cNvPr>
          <p:cNvPicPr>
            <a:picLocks noGrp="1" noChangeAspect="1"/>
          </p:cNvPicPr>
          <p:nvPr>
            <p:ph idx="1"/>
          </p:nvPr>
        </p:nvPicPr>
        <p:blipFill>
          <a:blip r:embed="rId2"/>
          <a:stretch>
            <a:fillRect/>
          </a:stretch>
        </p:blipFill>
        <p:spPr>
          <a:xfrm>
            <a:off x="2231740" y="879474"/>
            <a:ext cx="4680520" cy="3420467"/>
          </a:xfrm>
          <a:noFill/>
        </p:spPr>
      </p:pic>
    </p:spTree>
    <p:extLst>
      <p:ext uri="{BB962C8B-B14F-4D97-AF65-F5344CB8AC3E}">
        <p14:creationId xmlns:p14="http://schemas.microsoft.com/office/powerpoint/2010/main" val="729971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3A375-107F-493F-8EA2-168043CEA28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AI-Based Segmentation</a:t>
            </a:r>
          </a:p>
        </p:txBody>
      </p:sp>
      <p:sp>
        <p:nvSpPr>
          <p:cNvPr id="3" name="Content Placeholder 2">
            <a:extLst>
              <a:ext uri="{FF2B5EF4-FFF2-40B4-BE49-F238E27FC236}">
                <a16:creationId xmlns:a16="http://schemas.microsoft.com/office/drawing/2014/main" id="{31D335D8-2644-4A05-9627-B1FB45FB2543}"/>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Traditional approaches, like simple region-of- interest techniques, typically rely on geometric indications or depth thresholds to separate the foreground from the background. </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While these methods can work reasonably well in controlled or static environments, they often struggle in more complex scenes.</a:t>
            </a:r>
          </a:p>
        </p:txBody>
      </p:sp>
    </p:spTree>
    <p:extLst>
      <p:ext uri="{BB962C8B-B14F-4D97-AF65-F5344CB8AC3E}">
        <p14:creationId xmlns:p14="http://schemas.microsoft.com/office/powerpoint/2010/main" val="1375490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3A375-107F-493F-8EA2-168043CEA28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AI-Based Segmentation</a:t>
            </a:r>
          </a:p>
        </p:txBody>
      </p:sp>
      <p:sp>
        <p:nvSpPr>
          <p:cNvPr id="3" name="Content Placeholder 2">
            <a:extLst>
              <a:ext uri="{FF2B5EF4-FFF2-40B4-BE49-F238E27FC236}">
                <a16:creationId xmlns:a16="http://schemas.microsoft.com/office/drawing/2014/main" id="{31D335D8-2644-4A05-9627-B1FB45FB2543}"/>
              </a:ext>
            </a:extLst>
          </p:cNvPr>
          <p:cNvSpPr>
            <a:spLocks noGrp="1"/>
          </p:cNvSpPr>
          <p:nvPr>
            <p:ph idx="1"/>
          </p:nvPr>
        </p:nvSpPr>
        <p:spPr/>
        <p:txBody>
          <a:bodyPr>
            <a:noAutofit/>
          </a:bodyPr>
          <a:lstStyle/>
          <a:p>
            <a:r>
              <a:rPr lang="en-US" sz="2000" dirty="0">
                <a:latin typeface="Times New Roman" panose="02020603050405020304" pitchFamily="18" charset="0"/>
                <a:ea typeface="Tahoma" panose="020B0604030504040204" pitchFamily="34" charset="0"/>
                <a:cs typeface="Times New Roman" panose="02020603050405020304" pitchFamily="18" charset="0"/>
              </a:rPr>
              <a:t>Traditional methods struggle with complex, varied shapes</a:t>
            </a:r>
          </a:p>
          <a:p>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Methods like background subtraction or basic feature detection cannot understand the actual shape.</a:t>
            </a:r>
          </a:p>
          <a:p>
            <a:pPr marL="0" indent="0">
              <a:buNone/>
            </a:pP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Deep learning models can recognize and interpret different shapes, even when partially hidden, enabling far more accurate detection and segmentation [9].</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033223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15167-0B02-438F-8EF7-2513657AFDB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AI-Based Segmentation</a:t>
            </a:r>
          </a:p>
        </p:txBody>
      </p:sp>
      <p:sp>
        <p:nvSpPr>
          <p:cNvPr id="3" name="Content Placeholder 2">
            <a:extLst>
              <a:ext uri="{FF2B5EF4-FFF2-40B4-BE49-F238E27FC236}">
                <a16:creationId xmlns:a16="http://schemas.microsoft.com/office/drawing/2014/main" id="{4E5968EA-D04C-4381-ACFC-7A520E48B47A}"/>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Runs a pre-trained deep neural network that analyzes each depth frame.</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Creates a per-pixel mask segmentation.</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output is </a:t>
            </a:r>
            <a:r>
              <a:rPr lang="en-US" sz="2000" dirty="0" err="1">
                <a:latin typeface="Times New Roman" panose="02020603050405020304" pitchFamily="18" charset="0"/>
                <a:cs typeface="Times New Roman" panose="02020603050405020304" pitchFamily="18" charset="0"/>
              </a:rPr>
              <a:t>IndexMap</a:t>
            </a:r>
            <a:r>
              <a:rPr lang="en-US" sz="2000" dirty="0">
                <a:latin typeface="Times New Roman" panose="02020603050405020304" pitchFamily="18" charset="0"/>
                <a:cs typeface="Times New Roman" panose="02020603050405020304" pitchFamily="18" charset="0"/>
              </a:rPr>
              <a:t>, which shows which pixels belong to each detected object [10].</a:t>
            </a:r>
          </a:p>
        </p:txBody>
      </p:sp>
    </p:spTree>
    <p:extLst>
      <p:ext uri="{BB962C8B-B14F-4D97-AF65-F5344CB8AC3E}">
        <p14:creationId xmlns:p14="http://schemas.microsoft.com/office/powerpoint/2010/main" val="1255412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59E98-8D42-4550-AB84-8D7727943B4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Octree-Based Compression</a:t>
            </a:r>
          </a:p>
        </p:txBody>
      </p:sp>
      <p:sp>
        <p:nvSpPr>
          <p:cNvPr id="3" name="Content Placeholder 2">
            <a:extLst>
              <a:ext uri="{FF2B5EF4-FFF2-40B4-BE49-F238E27FC236}">
                <a16:creationId xmlns:a16="http://schemas.microsoft.com/office/drawing/2014/main" id="{6BAC7F17-F5F5-48D7-96C6-BCB34510913F}"/>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With the rise of 3D sensors and depth cameras, compressing depth images and point clouds efficiently has become important. </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Traditional lossless formats like PNG preserve exact depth values, but they do not take full advantage of the spatial patterns and redundancies in 3D data, which limits their compression efficiency</a:t>
            </a:r>
            <a:r>
              <a:rPr lang="ar-SY"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[11].</a:t>
            </a:r>
          </a:p>
        </p:txBody>
      </p:sp>
    </p:spTree>
    <p:extLst>
      <p:ext uri="{BB962C8B-B14F-4D97-AF65-F5344CB8AC3E}">
        <p14:creationId xmlns:p14="http://schemas.microsoft.com/office/powerpoint/2010/main" val="1324294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828C0-16F9-4B31-9D8E-EC92E59896AB}"/>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Octree-Based Compression</a:t>
            </a:r>
            <a:endParaRPr lang="en-US" dirty="0">
              <a:latin typeface="Times New Roman" panose="02020603050405020304" pitchFamily="18" charset="0"/>
              <a:cs typeface="Times New Roman" panose="02020603050405020304" pitchFamily="18" charset="0"/>
            </a:endParaRPr>
          </a:p>
        </p:txBody>
      </p:sp>
      <p:pic>
        <p:nvPicPr>
          <p:cNvPr id="15" name="Content Placeholder 14" descr="A white dots on a black background&#10;&#10;AI-generated content may be incorrect.">
            <a:extLst>
              <a:ext uri="{FF2B5EF4-FFF2-40B4-BE49-F238E27FC236}">
                <a16:creationId xmlns:a16="http://schemas.microsoft.com/office/drawing/2014/main" id="{ABDE8D0C-1552-4564-B991-37E5BC24C8A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26113" y="816031"/>
            <a:ext cx="6691774" cy="3511437"/>
          </a:xfrm>
        </p:spPr>
      </p:pic>
    </p:spTree>
    <p:extLst>
      <p:ext uri="{BB962C8B-B14F-4D97-AF65-F5344CB8AC3E}">
        <p14:creationId xmlns:p14="http://schemas.microsoft.com/office/powerpoint/2010/main" val="2374749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8A312-BED9-47CA-8971-306E5732099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Process Framework (Method 1)</a:t>
            </a:r>
          </a:p>
        </p:txBody>
      </p:sp>
      <p:sp>
        <p:nvSpPr>
          <p:cNvPr id="3" name="Content Placeholder 2">
            <a:extLst>
              <a:ext uri="{FF2B5EF4-FFF2-40B4-BE49-F238E27FC236}">
                <a16:creationId xmlns:a16="http://schemas.microsoft.com/office/drawing/2014/main" id="{DCF26DF2-477E-48BB-920F-17D87D094987}"/>
              </a:ext>
            </a:extLst>
          </p:cNvPr>
          <p:cNvSpPr>
            <a:spLocks noGrp="1"/>
          </p:cNvSpPr>
          <p:nvPr>
            <p:ph idx="1"/>
          </p:nvPr>
        </p:nvSpPr>
        <p:spPr>
          <a:xfrm>
            <a:off x="6732240" y="2067695"/>
            <a:ext cx="1882552" cy="504055"/>
          </a:xfrm>
        </p:spPr>
        <p:txBody>
          <a:bodyPr>
            <a:normAutofit/>
          </a:bodyPr>
          <a:lstStyle/>
          <a:p>
            <a:pPr marL="0" indent="0">
              <a:buNone/>
            </a:pPr>
            <a:r>
              <a:rPr lang="en-US" sz="1600" dirty="0"/>
              <a:t>Bitstream</a:t>
            </a:r>
            <a:r>
              <a:rPr lang="en-US" dirty="0"/>
              <a:t> </a:t>
            </a:r>
          </a:p>
        </p:txBody>
      </p:sp>
      <p:sp>
        <p:nvSpPr>
          <p:cNvPr id="4" name="Rectangle 3">
            <a:extLst>
              <a:ext uri="{FF2B5EF4-FFF2-40B4-BE49-F238E27FC236}">
                <a16:creationId xmlns:a16="http://schemas.microsoft.com/office/drawing/2014/main" id="{B129ABCD-A537-401E-A823-0DAB09EF89DD}"/>
              </a:ext>
            </a:extLst>
          </p:cNvPr>
          <p:cNvSpPr/>
          <p:nvPr/>
        </p:nvSpPr>
        <p:spPr>
          <a:xfrm>
            <a:off x="899592"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Input .</a:t>
            </a:r>
            <a:r>
              <a:rPr lang="en-US" sz="1600" dirty="0" err="1"/>
              <a:t>mkv</a:t>
            </a:r>
            <a:r>
              <a:rPr lang="en-US" sz="1600" dirty="0"/>
              <a:t> video</a:t>
            </a:r>
          </a:p>
        </p:txBody>
      </p:sp>
      <p:sp>
        <p:nvSpPr>
          <p:cNvPr id="6" name="Rectangle 5">
            <a:extLst>
              <a:ext uri="{FF2B5EF4-FFF2-40B4-BE49-F238E27FC236}">
                <a16:creationId xmlns:a16="http://schemas.microsoft.com/office/drawing/2014/main" id="{62035EBA-7333-4E72-9A67-D9D6A04B0E66}"/>
              </a:ext>
            </a:extLst>
          </p:cNvPr>
          <p:cNvSpPr/>
          <p:nvPr/>
        </p:nvSpPr>
        <p:spPr>
          <a:xfrm>
            <a:off x="2843808"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Extract depth frames </a:t>
            </a:r>
          </a:p>
        </p:txBody>
      </p:sp>
      <p:sp>
        <p:nvSpPr>
          <p:cNvPr id="7" name="Rectangle 6">
            <a:extLst>
              <a:ext uri="{FF2B5EF4-FFF2-40B4-BE49-F238E27FC236}">
                <a16:creationId xmlns:a16="http://schemas.microsoft.com/office/drawing/2014/main" id="{AC7EA0D4-99FB-4506-BDC6-F82EC60E60C6}"/>
              </a:ext>
            </a:extLst>
          </p:cNvPr>
          <p:cNvSpPr/>
          <p:nvPr/>
        </p:nvSpPr>
        <p:spPr>
          <a:xfrm>
            <a:off x="4788024"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PNG codec</a:t>
            </a:r>
          </a:p>
        </p:txBody>
      </p:sp>
      <p:cxnSp>
        <p:nvCxnSpPr>
          <p:cNvPr id="10" name="Straight Arrow Connector 9">
            <a:extLst>
              <a:ext uri="{FF2B5EF4-FFF2-40B4-BE49-F238E27FC236}">
                <a16:creationId xmlns:a16="http://schemas.microsoft.com/office/drawing/2014/main" id="{B88D70A0-771C-466F-8501-1D0298DA60E6}"/>
              </a:ext>
            </a:extLst>
          </p:cNvPr>
          <p:cNvCxnSpPr>
            <a:stCxn id="4" idx="3"/>
            <a:endCxn id="6" idx="1"/>
          </p:cNvCxnSpPr>
          <p:nvPr/>
        </p:nvCxnSpPr>
        <p:spPr>
          <a:xfrm>
            <a:off x="2195736" y="2355726"/>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6FCD724C-F5F7-4A2A-87A3-457D9E30FFE7}"/>
              </a:ext>
            </a:extLst>
          </p:cNvPr>
          <p:cNvCxnSpPr/>
          <p:nvPr/>
        </p:nvCxnSpPr>
        <p:spPr>
          <a:xfrm>
            <a:off x="4139952" y="2355726"/>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E48EE859-BC61-4DD2-8FDB-5F6F40816DEB}"/>
              </a:ext>
            </a:extLst>
          </p:cNvPr>
          <p:cNvCxnSpPr/>
          <p:nvPr/>
        </p:nvCxnSpPr>
        <p:spPr>
          <a:xfrm>
            <a:off x="6084168" y="2352769"/>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Rectangle 12">
            <a:extLst>
              <a:ext uri="{FF2B5EF4-FFF2-40B4-BE49-F238E27FC236}">
                <a16:creationId xmlns:a16="http://schemas.microsoft.com/office/drawing/2014/main" id="{AFBF5AA4-DA38-45D3-9D67-64964A2F5A25}"/>
              </a:ext>
            </a:extLst>
          </p:cNvPr>
          <p:cNvSpPr/>
          <p:nvPr/>
        </p:nvSpPr>
        <p:spPr>
          <a:xfrm>
            <a:off x="6702217"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800" dirty="0"/>
              <a:t>Bitstream</a:t>
            </a:r>
            <a:endParaRPr lang="en-US" dirty="0"/>
          </a:p>
        </p:txBody>
      </p:sp>
    </p:spTree>
    <p:extLst>
      <p:ext uri="{BB962C8B-B14F-4D97-AF65-F5344CB8AC3E}">
        <p14:creationId xmlns:p14="http://schemas.microsoft.com/office/powerpoint/2010/main" val="2792391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8A312-BED9-47CA-8971-306E5732099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Process Framework (Method 2)</a:t>
            </a:r>
          </a:p>
        </p:txBody>
      </p:sp>
      <p:sp>
        <p:nvSpPr>
          <p:cNvPr id="3" name="Content Placeholder 2">
            <a:extLst>
              <a:ext uri="{FF2B5EF4-FFF2-40B4-BE49-F238E27FC236}">
                <a16:creationId xmlns:a16="http://schemas.microsoft.com/office/drawing/2014/main" id="{DCF26DF2-477E-48BB-920F-17D87D094987}"/>
              </a:ext>
            </a:extLst>
          </p:cNvPr>
          <p:cNvSpPr>
            <a:spLocks noGrp="1"/>
          </p:cNvSpPr>
          <p:nvPr>
            <p:ph idx="1"/>
          </p:nvPr>
        </p:nvSpPr>
        <p:spPr>
          <a:xfrm>
            <a:off x="6835080" y="3291830"/>
            <a:ext cx="1090464" cy="504055"/>
          </a:xfrm>
        </p:spPr>
        <p:txBody>
          <a:bodyPr>
            <a:normAutofit/>
          </a:bodyPr>
          <a:lstStyle/>
          <a:p>
            <a:pPr marL="0" indent="0">
              <a:buNone/>
            </a:pPr>
            <a:r>
              <a:rPr lang="en-US" sz="1600" dirty="0"/>
              <a:t>Bitstream</a:t>
            </a:r>
          </a:p>
        </p:txBody>
      </p:sp>
      <p:sp>
        <p:nvSpPr>
          <p:cNvPr id="4" name="Rectangle 3">
            <a:extLst>
              <a:ext uri="{FF2B5EF4-FFF2-40B4-BE49-F238E27FC236}">
                <a16:creationId xmlns:a16="http://schemas.microsoft.com/office/drawing/2014/main" id="{B129ABCD-A537-401E-A823-0DAB09EF89DD}"/>
              </a:ext>
            </a:extLst>
          </p:cNvPr>
          <p:cNvSpPr/>
          <p:nvPr/>
        </p:nvSpPr>
        <p:spPr>
          <a:xfrm>
            <a:off x="899592"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Input .</a:t>
            </a:r>
            <a:r>
              <a:rPr lang="en-US" sz="1600" dirty="0" err="1"/>
              <a:t>mkv</a:t>
            </a:r>
            <a:r>
              <a:rPr lang="en-US" sz="1600" dirty="0"/>
              <a:t> video</a:t>
            </a:r>
          </a:p>
        </p:txBody>
      </p:sp>
      <p:sp>
        <p:nvSpPr>
          <p:cNvPr id="6" name="Rectangle 5">
            <a:extLst>
              <a:ext uri="{FF2B5EF4-FFF2-40B4-BE49-F238E27FC236}">
                <a16:creationId xmlns:a16="http://schemas.microsoft.com/office/drawing/2014/main" id="{62035EBA-7333-4E72-9A67-D9D6A04B0E66}"/>
              </a:ext>
            </a:extLst>
          </p:cNvPr>
          <p:cNvSpPr/>
          <p:nvPr/>
        </p:nvSpPr>
        <p:spPr>
          <a:xfrm>
            <a:off x="2843808"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Human body tracking </a:t>
            </a:r>
          </a:p>
        </p:txBody>
      </p:sp>
      <p:sp>
        <p:nvSpPr>
          <p:cNvPr id="7" name="Rectangle 6">
            <a:extLst>
              <a:ext uri="{FF2B5EF4-FFF2-40B4-BE49-F238E27FC236}">
                <a16:creationId xmlns:a16="http://schemas.microsoft.com/office/drawing/2014/main" id="{AC7EA0D4-99FB-4506-BDC6-F82EC60E60C6}"/>
              </a:ext>
            </a:extLst>
          </p:cNvPr>
          <p:cNvSpPr/>
          <p:nvPr/>
        </p:nvSpPr>
        <p:spPr>
          <a:xfrm>
            <a:off x="4788024"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Extract human frames</a:t>
            </a:r>
          </a:p>
        </p:txBody>
      </p:sp>
      <p:sp>
        <p:nvSpPr>
          <p:cNvPr id="8" name="Rectangle 7">
            <a:extLst>
              <a:ext uri="{FF2B5EF4-FFF2-40B4-BE49-F238E27FC236}">
                <a16:creationId xmlns:a16="http://schemas.microsoft.com/office/drawing/2014/main" id="{A4D88F7E-82D6-4743-B46A-6B1241882352}"/>
              </a:ext>
            </a:extLst>
          </p:cNvPr>
          <p:cNvSpPr/>
          <p:nvPr/>
        </p:nvSpPr>
        <p:spPr>
          <a:xfrm>
            <a:off x="6732240"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PNG Codec</a:t>
            </a:r>
          </a:p>
        </p:txBody>
      </p:sp>
      <p:cxnSp>
        <p:nvCxnSpPr>
          <p:cNvPr id="9" name="Straight Arrow Connector 8">
            <a:extLst>
              <a:ext uri="{FF2B5EF4-FFF2-40B4-BE49-F238E27FC236}">
                <a16:creationId xmlns:a16="http://schemas.microsoft.com/office/drawing/2014/main" id="{956061EE-2C55-4767-B7E0-CD3046E8EBB8}"/>
              </a:ext>
            </a:extLst>
          </p:cNvPr>
          <p:cNvCxnSpPr/>
          <p:nvPr/>
        </p:nvCxnSpPr>
        <p:spPr>
          <a:xfrm>
            <a:off x="2195736" y="2355726"/>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7851E8D1-7D67-4461-83C9-38CD1D208885}"/>
              </a:ext>
            </a:extLst>
          </p:cNvPr>
          <p:cNvCxnSpPr/>
          <p:nvPr/>
        </p:nvCxnSpPr>
        <p:spPr>
          <a:xfrm>
            <a:off x="4139952" y="2352769"/>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A1A650D0-21B3-4330-84B2-540A3690FEB9}"/>
              </a:ext>
            </a:extLst>
          </p:cNvPr>
          <p:cNvCxnSpPr/>
          <p:nvPr/>
        </p:nvCxnSpPr>
        <p:spPr>
          <a:xfrm>
            <a:off x="6084168" y="2370913"/>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58A91843-ADB9-4F48-A8D9-58177C463FD7}"/>
              </a:ext>
            </a:extLst>
          </p:cNvPr>
          <p:cNvCxnSpPr>
            <a:endCxn id="3" idx="0"/>
          </p:cNvCxnSpPr>
          <p:nvPr/>
        </p:nvCxnSpPr>
        <p:spPr>
          <a:xfrm>
            <a:off x="7380312" y="2787774"/>
            <a:ext cx="0" cy="50405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Rectangle 13">
            <a:extLst>
              <a:ext uri="{FF2B5EF4-FFF2-40B4-BE49-F238E27FC236}">
                <a16:creationId xmlns:a16="http://schemas.microsoft.com/office/drawing/2014/main" id="{2327460B-934A-4EB5-9E8B-D86D07F54D4A}"/>
              </a:ext>
            </a:extLst>
          </p:cNvPr>
          <p:cNvSpPr/>
          <p:nvPr/>
        </p:nvSpPr>
        <p:spPr>
          <a:xfrm>
            <a:off x="6732240" y="3291830"/>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800" dirty="0"/>
              <a:t>Bitstream</a:t>
            </a:r>
            <a:endParaRPr lang="en-US" dirty="0"/>
          </a:p>
        </p:txBody>
      </p:sp>
    </p:spTree>
    <p:extLst>
      <p:ext uri="{BB962C8B-B14F-4D97-AF65-F5344CB8AC3E}">
        <p14:creationId xmlns:p14="http://schemas.microsoft.com/office/powerpoint/2010/main" val="1554594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54173-740E-4394-9092-7640D003121F}"/>
              </a:ext>
            </a:extLst>
          </p:cNvPr>
          <p:cNvSpPr>
            <a:spLocks noGrp="1"/>
          </p:cNvSpPr>
          <p:nvPr>
            <p:ph type="title"/>
          </p:nvPr>
        </p:nvSpPr>
        <p:spPr>
          <a:xfrm>
            <a:off x="457200" y="123478"/>
            <a:ext cx="8229600" cy="565175"/>
          </a:xfrm>
        </p:spPr>
        <p:txBody>
          <a:bodyPr anchor="ctr">
            <a:normAutofit/>
          </a:bodyPr>
          <a:lstStyle/>
          <a:p>
            <a:r>
              <a:rPr lang="en-US" dirty="0">
                <a:latin typeface="Times New Roman" panose="02020603050405020304" pitchFamily="18" charset="0"/>
                <a:cs typeface="Times New Roman" panose="02020603050405020304" pitchFamily="18" charset="0"/>
              </a:rPr>
              <a:t>Process Framework (Method 2)</a:t>
            </a:r>
          </a:p>
        </p:txBody>
      </p:sp>
      <p:pic>
        <p:nvPicPr>
          <p:cNvPr id="7" name="Content Placeholder 6" descr="A person holding a cell phone&#10;&#10;AI-generated content may be incorrect.">
            <a:extLst>
              <a:ext uri="{FF2B5EF4-FFF2-40B4-BE49-F238E27FC236}">
                <a16:creationId xmlns:a16="http://schemas.microsoft.com/office/drawing/2014/main" id="{2596C85B-AEC8-4AED-90D4-6F04C19CEC2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4309" y="987575"/>
            <a:ext cx="3838619" cy="3456384"/>
          </a:xfrm>
        </p:spPr>
      </p:pic>
      <p:pic>
        <p:nvPicPr>
          <p:cNvPr id="5" name="Content Placeholder 4" descr="A person taking a selfie&#10;&#10;AI-generated content may be incorrect.">
            <a:extLst>
              <a:ext uri="{FF2B5EF4-FFF2-40B4-BE49-F238E27FC236}">
                <a16:creationId xmlns:a16="http://schemas.microsoft.com/office/drawing/2014/main" id="{79A25746-1C4E-4CF0-9C65-442673AB970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681073" y="987575"/>
            <a:ext cx="3972854" cy="3456384"/>
          </a:xfrm>
          <a:noFill/>
        </p:spPr>
      </p:pic>
    </p:spTree>
    <p:extLst>
      <p:ext uri="{BB962C8B-B14F-4D97-AF65-F5344CB8AC3E}">
        <p14:creationId xmlns:p14="http://schemas.microsoft.com/office/powerpoint/2010/main" val="2842480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8A312-BED9-47CA-8971-306E5732099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Process Framework (Method 3)</a:t>
            </a:r>
          </a:p>
        </p:txBody>
      </p:sp>
      <p:sp>
        <p:nvSpPr>
          <p:cNvPr id="3" name="Content Placeholder 2">
            <a:extLst>
              <a:ext uri="{FF2B5EF4-FFF2-40B4-BE49-F238E27FC236}">
                <a16:creationId xmlns:a16="http://schemas.microsoft.com/office/drawing/2014/main" id="{DCF26DF2-477E-48BB-920F-17D87D094987}"/>
              </a:ext>
            </a:extLst>
          </p:cNvPr>
          <p:cNvSpPr>
            <a:spLocks noGrp="1"/>
          </p:cNvSpPr>
          <p:nvPr>
            <p:ph idx="1"/>
          </p:nvPr>
        </p:nvSpPr>
        <p:spPr>
          <a:xfrm>
            <a:off x="4932040" y="3415029"/>
            <a:ext cx="1008112" cy="504055"/>
          </a:xfrm>
        </p:spPr>
        <p:txBody>
          <a:bodyPr>
            <a:normAutofit/>
          </a:bodyPr>
          <a:lstStyle/>
          <a:p>
            <a:pPr marL="0" indent="0">
              <a:buNone/>
            </a:pPr>
            <a:r>
              <a:rPr lang="en-US" sz="1600" dirty="0"/>
              <a:t>Bitstream</a:t>
            </a:r>
          </a:p>
        </p:txBody>
      </p:sp>
      <p:sp>
        <p:nvSpPr>
          <p:cNvPr id="4" name="Rectangle 3">
            <a:extLst>
              <a:ext uri="{FF2B5EF4-FFF2-40B4-BE49-F238E27FC236}">
                <a16:creationId xmlns:a16="http://schemas.microsoft.com/office/drawing/2014/main" id="{B129ABCD-A537-401E-A823-0DAB09EF89DD}"/>
              </a:ext>
            </a:extLst>
          </p:cNvPr>
          <p:cNvSpPr/>
          <p:nvPr/>
        </p:nvSpPr>
        <p:spPr>
          <a:xfrm>
            <a:off x="899592"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Input .</a:t>
            </a:r>
            <a:r>
              <a:rPr lang="en-US" sz="1600" dirty="0" err="1"/>
              <a:t>mkv</a:t>
            </a:r>
            <a:r>
              <a:rPr lang="en-US" sz="1600" dirty="0"/>
              <a:t> video</a:t>
            </a:r>
          </a:p>
        </p:txBody>
      </p:sp>
      <p:sp>
        <p:nvSpPr>
          <p:cNvPr id="6" name="Rectangle 5">
            <a:extLst>
              <a:ext uri="{FF2B5EF4-FFF2-40B4-BE49-F238E27FC236}">
                <a16:creationId xmlns:a16="http://schemas.microsoft.com/office/drawing/2014/main" id="{62035EBA-7333-4E72-9A67-D9D6A04B0E66}"/>
              </a:ext>
            </a:extLst>
          </p:cNvPr>
          <p:cNvSpPr/>
          <p:nvPr/>
        </p:nvSpPr>
        <p:spPr>
          <a:xfrm>
            <a:off x="2843808"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Human body tracking </a:t>
            </a:r>
          </a:p>
        </p:txBody>
      </p:sp>
      <p:sp>
        <p:nvSpPr>
          <p:cNvPr id="7" name="Rectangle 6">
            <a:extLst>
              <a:ext uri="{FF2B5EF4-FFF2-40B4-BE49-F238E27FC236}">
                <a16:creationId xmlns:a16="http://schemas.microsoft.com/office/drawing/2014/main" id="{AC7EA0D4-99FB-4506-BDC6-F82EC60E60C6}"/>
              </a:ext>
            </a:extLst>
          </p:cNvPr>
          <p:cNvSpPr/>
          <p:nvPr/>
        </p:nvSpPr>
        <p:spPr>
          <a:xfrm>
            <a:off x="4788024"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Extract human frames</a:t>
            </a:r>
          </a:p>
        </p:txBody>
      </p:sp>
      <p:sp>
        <p:nvSpPr>
          <p:cNvPr id="8" name="Rectangle 7">
            <a:extLst>
              <a:ext uri="{FF2B5EF4-FFF2-40B4-BE49-F238E27FC236}">
                <a16:creationId xmlns:a16="http://schemas.microsoft.com/office/drawing/2014/main" id="{A4D88F7E-82D6-4743-B46A-6B1241882352}"/>
              </a:ext>
            </a:extLst>
          </p:cNvPr>
          <p:cNvSpPr/>
          <p:nvPr/>
        </p:nvSpPr>
        <p:spPr>
          <a:xfrm>
            <a:off x="6732240" y="1923678"/>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Point Conversion</a:t>
            </a:r>
          </a:p>
        </p:txBody>
      </p:sp>
      <p:cxnSp>
        <p:nvCxnSpPr>
          <p:cNvPr id="9" name="Straight Arrow Connector 8">
            <a:extLst>
              <a:ext uri="{FF2B5EF4-FFF2-40B4-BE49-F238E27FC236}">
                <a16:creationId xmlns:a16="http://schemas.microsoft.com/office/drawing/2014/main" id="{956061EE-2C55-4767-B7E0-CD3046E8EBB8}"/>
              </a:ext>
            </a:extLst>
          </p:cNvPr>
          <p:cNvCxnSpPr/>
          <p:nvPr/>
        </p:nvCxnSpPr>
        <p:spPr>
          <a:xfrm>
            <a:off x="2195736" y="2355726"/>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7851E8D1-7D67-4461-83C9-38CD1D208885}"/>
              </a:ext>
            </a:extLst>
          </p:cNvPr>
          <p:cNvCxnSpPr/>
          <p:nvPr/>
        </p:nvCxnSpPr>
        <p:spPr>
          <a:xfrm>
            <a:off x="4139952" y="2352769"/>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A1A650D0-21B3-4330-84B2-540A3690FEB9}"/>
              </a:ext>
            </a:extLst>
          </p:cNvPr>
          <p:cNvCxnSpPr/>
          <p:nvPr/>
        </p:nvCxnSpPr>
        <p:spPr>
          <a:xfrm>
            <a:off x="6084168" y="2370913"/>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Rectangle 11">
            <a:extLst>
              <a:ext uri="{FF2B5EF4-FFF2-40B4-BE49-F238E27FC236}">
                <a16:creationId xmlns:a16="http://schemas.microsoft.com/office/drawing/2014/main" id="{A12DFBE4-17E9-4011-B539-72276A521E31}"/>
              </a:ext>
            </a:extLst>
          </p:cNvPr>
          <p:cNvSpPr/>
          <p:nvPr/>
        </p:nvSpPr>
        <p:spPr>
          <a:xfrm>
            <a:off x="6732240" y="3235009"/>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Octree Partitioning</a:t>
            </a:r>
          </a:p>
        </p:txBody>
      </p:sp>
      <p:cxnSp>
        <p:nvCxnSpPr>
          <p:cNvPr id="14" name="Straight Arrow Connector 13">
            <a:extLst>
              <a:ext uri="{FF2B5EF4-FFF2-40B4-BE49-F238E27FC236}">
                <a16:creationId xmlns:a16="http://schemas.microsoft.com/office/drawing/2014/main" id="{87F7E09F-1979-4B0F-80DB-2D396EA3FA66}"/>
              </a:ext>
            </a:extLst>
          </p:cNvPr>
          <p:cNvCxnSpPr>
            <a:stCxn id="8" idx="2"/>
            <a:endCxn id="12" idx="0"/>
          </p:cNvCxnSpPr>
          <p:nvPr/>
        </p:nvCxnSpPr>
        <p:spPr>
          <a:xfrm>
            <a:off x="7380312" y="2787774"/>
            <a:ext cx="0" cy="447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D4EF7DEB-423A-411E-B062-09D75517B0D4}"/>
              </a:ext>
            </a:extLst>
          </p:cNvPr>
          <p:cNvCxnSpPr>
            <a:cxnSpLocks/>
            <a:stCxn id="12" idx="1"/>
          </p:cNvCxnSpPr>
          <p:nvPr/>
        </p:nvCxnSpPr>
        <p:spPr>
          <a:xfrm flipH="1" flipV="1">
            <a:off x="6084168" y="3667056"/>
            <a:ext cx="648072"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8" name="Rectangle 17">
            <a:extLst>
              <a:ext uri="{FF2B5EF4-FFF2-40B4-BE49-F238E27FC236}">
                <a16:creationId xmlns:a16="http://schemas.microsoft.com/office/drawing/2014/main" id="{388E8197-2C57-47E6-B822-4B7F578A38F9}"/>
              </a:ext>
            </a:extLst>
          </p:cNvPr>
          <p:cNvSpPr/>
          <p:nvPr/>
        </p:nvSpPr>
        <p:spPr>
          <a:xfrm>
            <a:off x="4788024" y="3235009"/>
            <a:ext cx="1296144"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800" dirty="0"/>
              <a:t>Bitstream</a:t>
            </a:r>
            <a:endParaRPr lang="en-US" dirty="0"/>
          </a:p>
        </p:txBody>
      </p:sp>
    </p:spTree>
    <p:extLst>
      <p:ext uri="{BB962C8B-B14F-4D97-AF65-F5344CB8AC3E}">
        <p14:creationId xmlns:p14="http://schemas.microsoft.com/office/powerpoint/2010/main" val="102713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EF05FEE-8830-7237-8BF1-EC977182E25D}"/>
              </a:ext>
            </a:extLst>
          </p:cNvPr>
          <p:cNvSpPr>
            <a:spLocks noGrp="1"/>
          </p:cNvSpPr>
          <p:nvPr>
            <p:ph type="title"/>
          </p:nvPr>
        </p:nvSpPr>
        <p:spPr>
          <a:xfrm>
            <a:off x="457200" y="123478"/>
            <a:ext cx="8229600" cy="565175"/>
          </a:xfrm>
        </p:spPr>
        <p:txBody>
          <a:bodyPr/>
          <a:lstStyle/>
          <a:p>
            <a:r>
              <a:rPr lang="en-US" dirty="0">
                <a:latin typeface="Times New Roman" panose="02020603050405020304" pitchFamily="18" charset="0"/>
                <a:cs typeface="Times New Roman" panose="02020603050405020304" pitchFamily="18" charset="0"/>
              </a:rPr>
              <a:t>Process Framework (Method 3)</a:t>
            </a:r>
          </a:p>
        </p:txBody>
      </p:sp>
      <p:pic>
        <p:nvPicPr>
          <p:cNvPr id="5" name="Content Placeholder 4" descr="A rainbow colored silhouette of a person holding a white object&#10;&#10;AI-generated content may be incorrect.">
            <a:extLst>
              <a:ext uri="{FF2B5EF4-FFF2-40B4-BE49-F238E27FC236}">
                <a16:creationId xmlns:a16="http://schemas.microsoft.com/office/drawing/2014/main" id="{30EFD214-8ACD-4B50-BD7A-C276328086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1720" y="805575"/>
            <a:ext cx="4752528" cy="3638384"/>
          </a:xfrm>
          <a:noFill/>
        </p:spPr>
      </p:pic>
    </p:spTree>
    <p:extLst>
      <p:ext uri="{BB962C8B-B14F-4D97-AF65-F5344CB8AC3E}">
        <p14:creationId xmlns:p14="http://schemas.microsoft.com/office/powerpoint/2010/main" val="3192690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02356-C206-49D1-A2C3-623EBE836CC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Evaluation Metrics</a:t>
            </a:r>
          </a:p>
        </p:txBody>
      </p:sp>
      <p:sp>
        <p:nvSpPr>
          <p:cNvPr id="3" name="Content Placeholder 2">
            <a:extLst>
              <a:ext uri="{FF2B5EF4-FFF2-40B4-BE49-F238E27FC236}">
                <a16:creationId xmlns:a16="http://schemas.microsoft.com/office/drawing/2014/main" id="{C97887F1-56D8-47AF-A72F-16AE899B7538}"/>
              </a:ext>
            </a:extLst>
          </p:cNvPr>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rPr>
              <a:t>PSNR</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Compression rate</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Bitrate</a:t>
            </a:r>
          </a:p>
          <a:p>
            <a:endParaRPr lang="en-US" dirty="0"/>
          </a:p>
        </p:txBody>
      </p:sp>
      <p:pic>
        <p:nvPicPr>
          <p:cNvPr id="7" name="Picture 6">
            <a:extLst>
              <a:ext uri="{FF2B5EF4-FFF2-40B4-BE49-F238E27FC236}">
                <a16:creationId xmlns:a16="http://schemas.microsoft.com/office/drawing/2014/main" id="{741DB88A-8B51-4862-A253-E8452B081CCC}"/>
              </a:ext>
            </a:extLst>
          </p:cNvPr>
          <p:cNvPicPr>
            <a:picLocks noChangeAspect="1"/>
          </p:cNvPicPr>
          <p:nvPr/>
        </p:nvPicPr>
        <p:blipFill>
          <a:blip r:embed="rId2"/>
          <a:stretch>
            <a:fillRect/>
          </a:stretch>
        </p:blipFill>
        <p:spPr>
          <a:xfrm>
            <a:off x="4283968" y="987575"/>
            <a:ext cx="2002352" cy="486830"/>
          </a:xfrm>
          <a:prstGeom prst="rect">
            <a:avLst/>
          </a:prstGeom>
        </p:spPr>
      </p:pic>
      <p:pic>
        <p:nvPicPr>
          <p:cNvPr id="9" name="Picture 8">
            <a:extLst>
              <a:ext uri="{FF2B5EF4-FFF2-40B4-BE49-F238E27FC236}">
                <a16:creationId xmlns:a16="http://schemas.microsoft.com/office/drawing/2014/main" id="{381B3C8E-3164-4E1F-93FE-428B9A385DF0}"/>
              </a:ext>
            </a:extLst>
          </p:cNvPr>
          <p:cNvPicPr>
            <a:picLocks noChangeAspect="1"/>
          </p:cNvPicPr>
          <p:nvPr/>
        </p:nvPicPr>
        <p:blipFill>
          <a:blip r:embed="rId3"/>
          <a:stretch>
            <a:fillRect/>
          </a:stretch>
        </p:blipFill>
        <p:spPr>
          <a:xfrm>
            <a:off x="3507156" y="2055287"/>
            <a:ext cx="3555974" cy="516463"/>
          </a:xfrm>
          <a:prstGeom prst="rect">
            <a:avLst/>
          </a:prstGeom>
        </p:spPr>
      </p:pic>
      <p:pic>
        <p:nvPicPr>
          <p:cNvPr id="11" name="Picture 10">
            <a:extLst>
              <a:ext uri="{FF2B5EF4-FFF2-40B4-BE49-F238E27FC236}">
                <a16:creationId xmlns:a16="http://schemas.microsoft.com/office/drawing/2014/main" id="{52416DF4-5A76-4A30-8CF0-F27D5D6A0796}"/>
              </a:ext>
            </a:extLst>
          </p:cNvPr>
          <p:cNvPicPr>
            <a:picLocks noChangeAspect="1"/>
          </p:cNvPicPr>
          <p:nvPr/>
        </p:nvPicPr>
        <p:blipFill>
          <a:blip r:embed="rId4"/>
          <a:stretch>
            <a:fillRect/>
          </a:stretch>
        </p:blipFill>
        <p:spPr>
          <a:xfrm>
            <a:off x="3934719" y="3579862"/>
            <a:ext cx="2700847" cy="452963"/>
          </a:xfrm>
          <a:prstGeom prst="rect">
            <a:avLst/>
          </a:prstGeom>
        </p:spPr>
      </p:pic>
    </p:spTree>
    <p:extLst>
      <p:ext uri="{BB962C8B-B14F-4D97-AF65-F5344CB8AC3E}">
        <p14:creationId xmlns:p14="http://schemas.microsoft.com/office/powerpoint/2010/main" val="2626691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CA54B-69C3-434E-86B8-E32DD8703D48}"/>
              </a:ext>
            </a:extLst>
          </p:cNvPr>
          <p:cNvSpPr>
            <a:spLocks noGrp="1"/>
          </p:cNvSpPr>
          <p:nvPr>
            <p:ph type="title"/>
          </p:nvPr>
        </p:nvSpPr>
        <p:spPr>
          <a:xfrm>
            <a:off x="457200" y="123478"/>
            <a:ext cx="8229600" cy="565175"/>
          </a:xfrm>
        </p:spPr>
        <p:txBody>
          <a:bodyPr anchor="ctr">
            <a:normAutofit/>
          </a:bodyPr>
          <a:lstStyle/>
          <a:p>
            <a:r>
              <a:rPr lang="en-US" dirty="0">
                <a:latin typeface="Times New Roman" panose="02020603050405020304" pitchFamily="18" charset="0"/>
                <a:cs typeface="Times New Roman" panose="02020603050405020304" pitchFamily="18" charset="0"/>
              </a:rPr>
              <a:t>Evaluation Metrics</a:t>
            </a:r>
          </a:p>
        </p:txBody>
      </p:sp>
      <p:pic>
        <p:nvPicPr>
          <p:cNvPr id="5" name="Content Placeholder 4">
            <a:extLst>
              <a:ext uri="{FF2B5EF4-FFF2-40B4-BE49-F238E27FC236}">
                <a16:creationId xmlns:a16="http://schemas.microsoft.com/office/drawing/2014/main" id="{CE7EB4CF-1314-417A-9952-63F93AF899B9}"/>
              </a:ext>
            </a:extLst>
          </p:cNvPr>
          <p:cNvPicPr>
            <a:picLocks noGrp="1" noChangeAspect="1"/>
          </p:cNvPicPr>
          <p:nvPr>
            <p:ph idx="1"/>
          </p:nvPr>
        </p:nvPicPr>
        <p:blipFill>
          <a:blip r:embed="rId2"/>
          <a:stretch>
            <a:fillRect/>
          </a:stretch>
        </p:blipFill>
        <p:spPr>
          <a:xfrm>
            <a:off x="457200" y="1435036"/>
            <a:ext cx="8229600" cy="2489454"/>
          </a:xfrm>
          <a:noFill/>
        </p:spPr>
      </p:pic>
    </p:spTree>
    <p:extLst>
      <p:ext uri="{BB962C8B-B14F-4D97-AF65-F5344CB8AC3E}">
        <p14:creationId xmlns:p14="http://schemas.microsoft.com/office/powerpoint/2010/main" val="3023728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CA54B-69C3-434E-86B8-E32DD8703D48}"/>
              </a:ext>
            </a:extLst>
          </p:cNvPr>
          <p:cNvSpPr>
            <a:spLocks noGrp="1"/>
          </p:cNvSpPr>
          <p:nvPr>
            <p:ph type="title"/>
          </p:nvPr>
        </p:nvSpPr>
        <p:spPr>
          <a:xfrm>
            <a:off x="457200" y="123478"/>
            <a:ext cx="8229600" cy="565175"/>
          </a:xfrm>
        </p:spPr>
        <p:txBody>
          <a:bodyPr anchor="ctr">
            <a:normAutofit/>
          </a:bodyPr>
          <a:lstStyle/>
          <a:p>
            <a:r>
              <a:rPr lang="en-US">
                <a:latin typeface="Times New Roman" panose="02020603050405020304" pitchFamily="18" charset="0"/>
                <a:cs typeface="Times New Roman" panose="02020603050405020304" pitchFamily="18" charset="0"/>
              </a:rPr>
              <a:t>Rate–Distortion Analysis</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5EDD3BB-0107-4628-9F48-8CAC0DC2FC62}"/>
              </a:ext>
            </a:extLst>
          </p:cNvPr>
          <p:cNvSpPr>
            <a:spLocks noGrp="1"/>
          </p:cNvSpPr>
          <p:nvPr>
            <p:ph idx="1"/>
          </p:nvPr>
        </p:nvSpPr>
        <p:spPr/>
        <p:txBody>
          <a:bodyPr/>
          <a:lstStyle/>
          <a:p>
            <a:pPr marL="0" indent="0">
              <a:buNone/>
            </a:pPr>
            <a:endParaRPr lang="en-US" dirty="0"/>
          </a:p>
        </p:txBody>
      </p:sp>
      <p:pic>
        <p:nvPicPr>
          <p:cNvPr id="6" name="Picture 5" descr="A graph with a line and a line&#10;&#10;AI-generated content may be incorrect.">
            <a:extLst>
              <a:ext uri="{FF2B5EF4-FFF2-40B4-BE49-F238E27FC236}">
                <a16:creationId xmlns:a16="http://schemas.microsoft.com/office/drawing/2014/main" id="{CCA4D97E-914F-4F4D-9276-9A28D4B2B2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604" y="776467"/>
            <a:ext cx="7128792" cy="3590566"/>
          </a:xfrm>
          <a:prstGeom prst="rect">
            <a:avLst/>
          </a:prstGeom>
        </p:spPr>
      </p:pic>
    </p:spTree>
    <p:extLst>
      <p:ext uri="{BB962C8B-B14F-4D97-AF65-F5344CB8AC3E}">
        <p14:creationId xmlns:p14="http://schemas.microsoft.com/office/powerpoint/2010/main" val="2057235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AC775-EFE2-4361-ACAF-4D1A8ADFB6C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AI-Based Human Pose Evaluation</a:t>
            </a:r>
          </a:p>
        </p:txBody>
      </p:sp>
      <p:sp>
        <p:nvSpPr>
          <p:cNvPr id="3" name="Content Placeholder 2">
            <a:extLst>
              <a:ext uri="{FF2B5EF4-FFF2-40B4-BE49-F238E27FC236}">
                <a16:creationId xmlns:a16="http://schemas.microsoft.com/office/drawing/2014/main" id="{B817EA59-FC47-42E0-B854-01182EEBB3E5}"/>
              </a:ext>
            </a:extLst>
          </p:cNvPr>
          <p:cNvSpPr>
            <a:spLocks noGrp="1"/>
          </p:cNvSpPr>
          <p:nvPr>
            <p:ph idx="1"/>
          </p:nvPr>
        </p:nvSpPr>
        <p:spPr/>
        <p:txBody>
          <a:bodyPr/>
          <a:lstStyle/>
          <a:p>
            <a:r>
              <a:rPr lang="en-US" sz="2000" b="1" dirty="0">
                <a:latin typeface="Times New Roman" panose="02020603050405020304" pitchFamily="18" charset="0"/>
                <a:cs typeface="Times New Roman" panose="02020603050405020304" pitchFamily="18" charset="0"/>
              </a:rPr>
              <a:t>Models used:</a:t>
            </a:r>
          </a:p>
          <a:p>
            <a:pPr>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RT-DETR:</a:t>
            </a:r>
            <a:r>
              <a:rPr lang="en-US" sz="2000" dirty="0">
                <a:latin typeface="Times New Roman" panose="02020603050405020304" pitchFamily="18" charset="0"/>
                <a:cs typeface="Times New Roman" panose="02020603050405020304" pitchFamily="18" charset="0"/>
              </a:rPr>
              <a:t> detects person, provides bounding boxes</a:t>
            </a:r>
          </a:p>
          <a:p>
            <a:pPr>
              <a:buFont typeface="Courier New" panose="02070309020205020404" pitchFamily="49" charset="0"/>
              <a:buChar char="o"/>
            </a:pPr>
            <a:r>
              <a:rPr lang="en-US" sz="2000" b="1" dirty="0" err="1">
                <a:latin typeface="Times New Roman" panose="02020603050405020304" pitchFamily="18" charset="0"/>
                <a:cs typeface="Times New Roman" panose="02020603050405020304" pitchFamily="18" charset="0"/>
              </a:rPr>
              <a:t>ViTPose</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gives accurate 2D </a:t>
            </a:r>
            <a:r>
              <a:rPr lang="en-US" sz="2000" dirty="0" err="1">
                <a:latin typeface="Times New Roman" panose="02020603050405020304" pitchFamily="18" charset="0"/>
                <a:cs typeface="Times New Roman" panose="02020603050405020304" pitchFamily="18" charset="0"/>
              </a:rPr>
              <a:t>keypoints</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Purpose:</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Compare accuracy between original vs compressed frames</a:t>
            </a:r>
          </a:p>
          <a:p>
            <a:endParaRPr lang="en-US" dirty="0"/>
          </a:p>
        </p:txBody>
      </p:sp>
    </p:spTree>
    <p:extLst>
      <p:ext uri="{BB962C8B-B14F-4D97-AF65-F5344CB8AC3E}">
        <p14:creationId xmlns:p14="http://schemas.microsoft.com/office/powerpoint/2010/main" val="2030793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FA075-A477-4C4C-ABBC-93363EF37D9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3D Pose Reconstruction Pipeline</a:t>
            </a:r>
          </a:p>
        </p:txBody>
      </p:sp>
      <p:sp>
        <p:nvSpPr>
          <p:cNvPr id="3" name="Content Placeholder 2">
            <a:extLst>
              <a:ext uri="{FF2B5EF4-FFF2-40B4-BE49-F238E27FC236}">
                <a16:creationId xmlns:a16="http://schemas.microsoft.com/office/drawing/2014/main" id="{CCE5BA3B-10C7-440F-8668-4C6143697774}"/>
              </a:ext>
            </a:extLst>
          </p:cNvPr>
          <p:cNvSpPr>
            <a:spLocks noGrp="1"/>
          </p:cNvSpPr>
          <p:nvPr>
            <p:ph idx="1"/>
          </p:nvPr>
        </p:nvSpPr>
        <p:spPr/>
        <p:txBody>
          <a:bodyPr/>
          <a:lstStyle/>
          <a:p>
            <a:endParaRPr lang="en-US" dirty="0"/>
          </a:p>
        </p:txBody>
      </p:sp>
      <p:sp>
        <p:nvSpPr>
          <p:cNvPr id="5" name="Rectangle 4">
            <a:extLst>
              <a:ext uri="{FF2B5EF4-FFF2-40B4-BE49-F238E27FC236}">
                <a16:creationId xmlns:a16="http://schemas.microsoft.com/office/drawing/2014/main" id="{CA4EAF9A-B893-466E-92B0-80B15385FF1E}"/>
              </a:ext>
            </a:extLst>
          </p:cNvPr>
          <p:cNvSpPr/>
          <p:nvPr/>
        </p:nvSpPr>
        <p:spPr>
          <a:xfrm>
            <a:off x="899592" y="1923678"/>
            <a:ext cx="1440160"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Preprocessing</a:t>
            </a:r>
          </a:p>
        </p:txBody>
      </p:sp>
      <p:sp>
        <p:nvSpPr>
          <p:cNvPr id="6" name="Rectangle 5">
            <a:extLst>
              <a:ext uri="{FF2B5EF4-FFF2-40B4-BE49-F238E27FC236}">
                <a16:creationId xmlns:a16="http://schemas.microsoft.com/office/drawing/2014/main" id="{AE99573F-FAF1-4CDF-8FD5-557DF6987CF6}"/>
              </a:ext>
            </a:extLst>
          </p:cNvPr>
          <p:cNvSpPr/>
          <p:nvPr/>
        </p:nvSpPr>
        <p:spPr>
          <a:xfrm>
            <a:off x="2972408" y="1923678"/>
            <a:ext cx="1440160"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2D </a:t>
            </a:r>
            <a:r>
              <a:rPr lang="en-US" sz="1600" dirty="0" err="1"/>
              <a:t>Keypoint</a:t>
            </a:r>
            <a:r>
              <a:rPr lang="en-US" sz="1600" dirty="0"/>
              <a:t> Estimation</a:t>
            </a:r>
          </a:p>
        </p:txBody>
      </p:sp>
      <p:sp>
        <p:nvSpPr>
          <p:cNvPr id="8" name="Rectangle 7">
            <a:extLst>
              <a:ext uri="{FF2B5EF4-FFF2-40B4-BE49-F238E27FC236}">
                <a16:creationId xmlns:a16="http://schemas.microsoft.com/office/drawing/2014/main" id="{F5817920-BF09-496C-9B9E-864718576EA8}"/>
              </a:ext>
            </a:extLst>
          </p:cNvPr>
          <p:cNvSpPr/>
          <p:nvPr/>
        </p:nvSpPr>
        <p:spPr>
          <a:xfrm>
            <a:off x="5045224" y="1923678"/>
            <a:ext cx="1440160"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2D → 3D Mapping</a:t>
            </a:r>
          </a:p>
        </p:txBody>
      </p:sp>
      <p:sp>
        <p:nvSpPr>
          <p:cNvPr id="12" name="Rectangle 11">
            <a:extLst>
              <a:ext uri="{FF2B5EF4-FFF2-40B4-BE49-F238E27FC236}">
                <a16:creationId xmlns:a16="http://schemas.microsoft.com/office/drawing/2014/main" id="{29E17145-A5F1-47F7-9E73-87FC7408D740}"/>
              </a:ext>
            </a:extLst>
          </p:cNvPr>
          <p:cNvSpPr/>
          <p:nvPr/>
        </p:nvSpPr>
        <p:spPr>
          <a:xfrm>
            <a:off x="7118040" y="1923678"/>
            <a:ext cx="1440160" cy="8640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Data Output</a:t>
            </a:r>
          </a:p>
        </p:txBody>
      </p:sp>
      <p:cxnSp>
        <p:nvCxnSpPr>
          <p:cNvPr id="13" name="Straight Arrow Connector 12">
            <a:extLst>
              <a:ext uri="{FF2B5EF4-FFF2-40B4-BE49-F238E27FC236}">
                <a16:creationId xmlns:a16="http://schemas.microsoft.com/office/drawing/2014/main" id="{6C08A32B-F823-4466-BE42-6CA67B9913F8}"/>
              </a:ext>
            </a:extLst>
          </p:cNvPr>
          <p:cNvCxnSpPr/>
          <p:nvPr/>
        </p:nvCxnSpPr>
        <p:spPr>
          <a:xfrm>
            <a:off x="2339752" y="2355726"/>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1FFA641C-8CFC-4DCB-9519-052137DDB5AA}"/>
              </a:ext>
            </a:extLst>
          </p:cNvPr>
          <p:cNvCxnSpPr/>
          <p:nvPr/>
        </p:nvCxnSpPr>
        <p:spPr>
          <a:xfrm>
            <a:off x="4412568" y="2355726"/>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3EBAFA90-A770-44F4-9647-D5076955E730}"/>
              </a:ext>
            </a:extLst>
          </p:cNvPr>
          <p:cNvCxnSpPr/>
          <p:nvPr/>
        </p:nvCxnSpPr>
        <p:spPr>
          <a:xfrm>
            <a:off x="6469968" y="2355726"/>
            <a:ext cx="6480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612868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CDB60-6F70-455F-80D0-0705E35AE55B}"/>
              </a:ext>
            </a:extLst>
          </p:cNvPr>
          <p:cNvSpPr>
            <a:spLocks noGrp="1"/>
          </p:cNvSpPr>
          <p:nvPr>
            <p:ph type="title"/>
          </p:nvPr>
        </p:nvSpPr>
        <p:spPr>
          <a:xfrm>
            <a:off x="457200" y="123478"/>
            <a:ext cx="8229600" cy="565175"/>
          </a:xfrm>
        </p:spPr>
        <p:txBody>
          <a:bodyPr anchor="ctr">
            <a:normAutofit/>
          </a:bodyPr>
          <a:lstStyle/>
          <a:p>
            <a:r>
              <a:rPr lang="en-US" dirty="0">
                <a:latin typeface="Times New Roman" panose="02020603050405020304" pitchFamily="18" charset="0"/>
                <a:cs typeface="Times New Roman" panose="02020603050405020304" pitchFamily="18" charset="0"/>
              </a:rPr>
              <a:t>2D </a:t>
            </a:r>
            <a:r>
              <a:rPr lang="en-US" dirty="0" err="1">
                <a:latin typeface="Times New Roman" panose="02020603050405020304" pitchFamily="18" charset="0"/>
                <a:cs typeface="Times New Roman" panose="02020603050405020304" pitchFamily="18" charset="0"/>
              </a:rPr>
              <a:t>Keypoint</a:t>
            </a:r>
            <a:r>
              <a:rPr lang="en-US" dirty="0">
                <a:latin typeface="Times New Roman" panose="02020603050405020304" pitchFamily="18" charset="0"/>
                <a:cs typeface="Times New Roman" panose="02020603050405020304" pitchFamily="18" charset="0"/>
              </a:rPr>
              <a:t> Estimation</a:t>
            </a:r>
          </a:p>
        </p:txBody>
      </p:sp>
      <p:graphicFrame>
        <p:nvGraphicFramePr>
          <p:cNvPr id="5" name="Content Placeholder 2">
            <a:extLst>
              <a:ext uri="{FF2B5EF4-FFF2-40B4-BE49-F238E27FC236}">
                <a16:creationId xmlns:a16="http://schemas.microsoft.com/office/drawing/2014/main" id="{AFC89FD7-4A3D-FE81-EDE6-D34E0E234330}"/>
              </a:ext>
            </a:extLst>
          </p:cNvPr>
          <p:cNvGraphicFramePr>
            <a:graphicFrameLocks noGrp="1"/>
          </p:cNvGraphicFramePr>
          <p:nvPr>
            <p:ph idx="1"/>
            <p:extLst>
              <p:ext uri="{D42A27DB-BD31-4B8C-83A1-F6EECF244321}">
                <p14:modId xmlns:p14="http://schemas.microsoft.com/office/powerpoint/2010/main" val="459220784"/>
              </p:ext>
            </p:extLst>
          </p:nvPr>
        </p:nvGraphicFramePr>
        <p:xfrm>
          <a:off x="457200" y="987575"/>
          <a:ext cx="8229600" cy="3384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76220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95E31-62B6-4049-89E2-8C88AABC04CC}"/>
              </a:ext>
            </a:extLst>
          </p:cNvPr>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2D → 3D Mapping</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EE343D-23A8-4167-95F2-4702558252C7}"/>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For every detected joint, the corresponding pixel location (x, y) is matched with the depth image to obtain its depth value.</a:t>
                </a:r>
              </a:p>
              <a:p>
                <a:endParaRPr lang="en-US"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𝑋</m:t>
                    </m:r>
                    <m:r>
                      <a:rPr lang="en-US" i="1" smtClean="0">
                        <a:latin typeface="Cambria Math" panose="02040503050406030204" pitchFamily="18" charset="0"/>
                      </a:rPr>
                      <m:t>=</m:t>
                    </m:r>
                    <m:f>
                      <m:fPr>
                        <m:ctrlPr>
                          <a:rPr lang="en-US"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𝑥</m:t>
                                </m:r>
                              </m:sub>
                            </m:sSub>
                          </m:e>
                        </m:d>
                        <m:r>
                          <a:rPr lang="en-US" b="0" i="1" smtClean="0">
                            <a:latin typeface="Cambria Math" panose="02040503050406030204" pitchFamily="18" charset="0"/>
                          </a:rPr>
                          <m:t>𝑍</m:t>
                        </m:r>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𝑥</m:t>
                            </m:r>
                          </m:sub>
                        </m:sSub>
                      </m:den>
                    </m:f>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r>
                      <a:rPr lang="en-US" b="0" i="1" smtClean="0">
                        <a:latin typeface="Cambria Math" panose="02040503050406030204" pitchFamily="18" charset="0"/>
                      </a:rPr>
                      <m:t>𝑌</m:t>
                    </m:r>
                    <m:r>
                      <a:rPr lang="en-US" i="1">
                        <a:latin typeface="Cambria Math" panose="02040503050406030204" pitchFamily="18" charset="0"/>
                      </a:rPr>
                      <m:t>=</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b="0" i="1" smtClean="0">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b="0" i="1" smtClean="0">
                                    <a:latin typeface="Cambria Math" panose="02040503050406030204" pitchFamily="18" charset="0"/>
                                  </a:rPr>
                                  <m:t>𝑦</m:t>
                                </m:r>
                              </m:sub>
                            </m:sSub>
                          </m:e>
                        </m:d>
                        <m:r>
                          <a:rPr lang="en-US" i="1">
                            <a:latin typeface="Cambria Math" panose="02040503050406030204" pitchFamily="18" charset="0"/>
                          </a:rPr>
                          <m:t>𝑍</m:t>
                        </m:r>
                      </m:num>
                      <m:den>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𝑦</m:t>
                            </m:r>
                          </m:sub>
                        </m:sSub>
                      </m:den>
                    </m:f>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r>
                      <a:rPr lang="en-US" b="0" i="1" smtClean="0">
                        <a:latin typeface="Cambria Math" panose="02040503050406030204" pitchFamily="18" charset="0"/>
                      </a:rPr>
                      <m:t>𝑍</m:t>
                    </m:r>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𝑑𝑒𝑝𝑡</m:t>
                        </m:r>
                        <m:r>
                          <a:rPr lang="en-US" b="0" i="1" smtClean="0">
                            <a:latin typeface="Cambria Math" panose="02040503050406030204" pitchFamily="18" charset="0"/>
                          </a:rPr>
                          <m:t>h</m:t>
                        </m:r>
                      </m:num>
                      <m:den>
                        <m:r>
                          <a:rPr lang="en-US" b="0" i="1" smtClean="0">
                            <a:latin typeface="Cambria Math" panose="02040503050406030204" pitchFamily="18" charset="0"/>
                          </a:rPr>
                          <m:t>1000</m:t>
                        </m:r>
                      </m:den>
                    </m:f>
                  </m:oMath>
                </a14:m>
                <a:r>
                  <a:rPr lang="en-US" dirty="0">
                    <a:latin typeface="Times New Roman" panose="02020603050405020304" pitchFamily="18" charset="0"/>
                    <a:cs typeface="Times New Roman" panose="02020603050405020304" pitchFamily="18" charset="0"/>
                  </a:rPr>
                  <a:t>             </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96EE343D-23A8-4167-95F2-4702558252C7}"/>
                  </a:ext>
                </a:extLst>
              </p:cNvPr>
              <p:cNvSpPr>
                <a:spLocks noGrp="1" noRot="1" noChangeAspect="1" noMove="1" noResize="1" noEditPoints="1" noAdjustHandles="1" noChangeArrowheads="1" noChangeShapeType="1" noTextEdit="1"/>
              </p:cNvSpPr>
              <p:nvPr>
                <p:ph idx="1"/>
              </p:nvPr>
            </p:nvSpPr>
            <p:spPr>
              <a:blipFill>
                <a:blip r:embed="rId2"/>
                <a:stretch>
                  <a:fillRect l="-963" t="-1441"/>
                </a:stretch>
              </a:blipFill>
            </p:spPr>
            <p:txBody>
              <a:bodyPr/>
              <a:lstStyle/>
              <a:p>
                <a:r>
                  <a:rPr lang="en-US">
                    <a:noFill/>
                  </a:rPr>
                  <a:t> </a:t>
                </a:r>
              </a:p>
            </p:txBody>
          </p:sp>
        </mc:Fallback>
      </mc:AlternateContent>
    </p:spTree>
    <p:extLst>
      <p:ext uri="{BB962C8B-B14F-4D97-AF65-F5344CB8AC3E}">
        <p14:creationId xmlns:p14="http://schemas.microsoft.com/office/powerpoint/2010/main" val="3868516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774AB-C4CD-481B-B7B6-89E0674CD62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Pose Estimation Accuracy (RMSE)</a:t>
            </a:r>
          </a:p>
        </p:txBody>
      </p:sp>
      <p:graphicFrame>
        <p:nvGraphicFramePr>
          <p:cNvPr id="4" name="Table 4">
            <a:extLst>
              <a:ext uri="{FF2B5EF4-FFF2-40B4-BE49-F238E27FC236}">
                <a16:creationId xmlns:a16="http://schemas.microsoft.com/office/drawing/2014/main" id="{B2315A8F-AB68-471E-80A0-8D0DCC29259D}"/>
              </a:ext>
            </a:extLst>
          </p:cNvPr>
          <p:cNvGraphicFramePr>
            <a:graphicFrameLocks noGrp="1"/>
          </p:cNvGraphicFramePr>
          <p:nvPr>
            <p:ph idx="1"/>
            <p:extLst>
              <p:ext uri="{D42A27DB-BD31-4B8C-83A1-F6EECF244321}">
                <p14:modId xmlns:p14="http://schemas.microsoft.com/office/powerpoint/2010/main" val="325974698"/>
              </p:ext>
            </p:extLst>
          </p:nvPr>
        </p:nvGraphicFramePr>
        <p:xfrm>
          <a:off x="462372" y="843558"/>
          <a:ext cx="8219256" cy="3337560"/>
        </p:xfrm>
        <a:graphic>
          <a:graphicData uri="http://schemas.openxmlformats.org/drawingml/2006/table">
            <a:tbl>
              <a:tblPr firstRow="1" bandRow="1">
                <a:tableStyleId>{9D7B26C5-4107-4FEC-AEDC-1716B250A1EF}</a:tableStyleId>
              </a:tblPr>
              <a:tblGrid>
                <a:gridCol w="2047056">
                  <a:extLst>
                    <a:ext uri="{9D8B030D-6E8A-4147-A177-3AD203B41FA5}">
                      <a16:colId xmlns:a16="http://schemas.microsoft.com/office/drawing/2014/main" val="3904325441"/>
                    </a:ext>
                  </a:extLst>
                </a:gridCol>
                <a:gridCol w="2057400">
                  <a:extLst>
                    <a:ext uri="{9D8B030D-6E8A-4147-A177-3AD203B41FA5}">
                      <a16:colId xmlns:a16="http://schemas.microsoft.com/office/drawing/2014/main" val="1803524496"/>
                    </a:ext>
                  </a:extLst>
                </a:gridCol>
                <a:gridCol w="2057400">
                  <a:extLst>
                    <a:ext uri="{9D8B030D-6E8A-4147-A177-3AD203B41FA5}">
                      <a16:colId xmlns:a16="http://schemas.microsoft.com/office/drawing/2014/main" val="2117127940"/>
                    </a:ext>
                  </a:extLst>
                </a:gridCol>
                <a:gridCol w="2057400">
                  <a:extLst>
                    <a:ext uri="{9D8B030D-6E8A-4147-A177-3AD203B41FA5}">
                      <a16:colId xmlns:a16="http://schemas.microsoft.com/office/drawing/2014/main" val="3879850149"/>
                    </a:ext>
                  </a:extLst>
                </a:gridCol>
              </a:tblGrid>
              <a:tr h="370840">
                <a:tc>
                  <a:txBody>
                    <a:bodyPr/>
                    <a:lstStyle/>
                    <a:p>
                      <a:pPr algn="ctr"/>
                      <a:r>
                        <a:rPr lang="en-US" sz="1600" dirty="0"/>
                        <a:t>Video </a:t>
                      </a:r>
                    </a:p>
                  </a:txBody>
                  <a:tcPr/>
                </a:tc>
                <a:tc>
                  <a:txBody>
                    <a:bodyPr/>
                    <a:lstStyle/>
                    <a:p>
                      <a:pPr algn="ctr"/>
                      <a:r>
                        <a:rPr lang="en-US" sz="1600" dirty="0"/>
                        <a:t>Method 1 (mm)</a:t>
                      </a:r>
                    </a:p>
                  </a:txBody>
                  <a:tcPr/>
                </a:tc>
                <a:tc>
                  <a:txBody>
                    <a:bodyPr/>
                    <a:lstStyle/>
                    <a:p>
                      <a:pPr algn="ctr"/>
                      <a:r>
                        <a:rPr lang="en-US" sz="1600" dirty="0"/>
                        <a:t>Method 2 (mm)</a:t>
                      </a:r>
                    </a:p>
                  </a:txBody>
                  <a:tcPr/>
                </a:tc>
                <a:tc>
                  <a:txBody>
                    <a:bodyPr/>
                    <a:lstStyle/>
                    <a:p>
                      <a:pPr algn="ctr"/>
                      <a:r>
                        <a:rPr lang="en-US" sz="1600" dirty="0"/>
                        <a:t>Method 3 (mm)</a:t>
                      </a:r>
                    </a:p>
                  </a:txBody>
                  <a:tcPr/>
                </a:tc>
                <a:extLst>
                  <a:ext uri="{0D108BD9-81ED-4DB2-BD59-A6C34878D82A}">
                    <a16:rowId xmlns:a16="http://schemas.microsoft.com/office/drawing/2014/main" val="3423713349"/>
                  </a:ext>
                </a:extLst>
              </a:tr>
              <a:tr h="370840">
                <a:tc>
                  <a:txBody>
                    <a:bodyPr/>
                    <a:lstStyle/>
                    <a:p>
                      <a:pPr algn="ctr"/>
                      <a:r>
                        <a:rPr lang="en-US" sz="1600" dirty="0"/>
                        <a:t>004-t2-20230303.mkv</a:t>
                      </a:r>
                    </a:p>
                  </a:txBody>
                  <a:tcPr/>
                </a:tc>
                <a:tc>
                  <a:txBody>
                    <a:bodyPr/>
                    <a:lstStyle/>
                    <a:p>
                      <a:pPr algn="ctr"/>
                      <a:r>
                        <a:rPr lang="en-US" sz="1600" dirty="0"/>
                        <a:t>0.00</a:t>
                      </a:r>
                    </a:p>
                  </a:txBody>
                  <a:tcPr/>
                </a:tc>
                <a:tc>
                  <a:txBody>
                    <a:bodyPr/>
                    <a:lstStyle/>
                    <a:p>
                      <a:pPr algn="ctr"/>
                      <a:r>
                        <a:rPr lang="en-US" sz="1600" dirty="0"/>
                        <a:t>11.00</a:t>
                      </a:r>
                    </a:p>
                  </a:txBody>
                  <a:tcPr/>
                </a:tc>
                <a:tc>
                  <a:txBody>
                    <a:bodyPr/>
                    <a:lstStyle/>
                    <a:p>
                      <a:pPr algn="ctr"/>
                      <a:r>
                        <a:rPr lang="en-US" sz="1600" dirty="0"/>
                        <a:t>317.18</a:t>
                      </a:r>
                    </a:p>
                  </a:txBody>
                  <a:tcPr/>
                </a:tc>
                <a:extLst>
                  <a:ext uri="{0D108BD9-81ED-4DB2-BD59-A6C34878D82A}">
                    <a16:rowId xmlns:a16="http://schemas.microsoft.com/office/drawing/2014/main" val="4184528162"/>
                  </a:ext>
                </a:extLst>
              </a:tr>
              <a:tr h="370840">
                <a:tc>
                  <a:txBody>
                    <a:bodyPr/>
                    <a:lstStyle/>
                    <a:p>
                      <a:pPr algn="ctr"/>
                      <a:r>
                        <a:rPr lang="en-US" sz="1600" dirty="0"/>
                        <a:t>007-t2-20230309.mkv</a:t>
                      </a:r>
                    </a:p>
                  </a:txBody>
                  <a:tcPr/>
                </a:tc>
                <a:tc>
                  <a:txBody>
                    <a:bodyPr/>
                    <a:lstStyle/>
                    <a:p>
                      <a:pPr algn="ctr"/>
                      <a:r>
                        <a:rPr lang="en-US" sz="1600" dirty="0"/>
                        <a:t>0.00</a:t>
                      </a:r>
                    </a:p>
                  </a:txBody>
                  <a:tcPr/>
                </a:tc>
                <a:tc>
                  <a:txBody>
                    <a:bodyPr/>
                    <a:lstStyle/>
                    <a:p>
                      <a:pPr algn="ctr"/>
                      <a:r>
                        <a:rPr lang="en-US" sz="1600" dirty="0"/>
                        <a:t>0.50</a:t>
                      </a:r>
                    </a:p>
                  </a:txBody>
                  <a:tcPr/>
                </a:tc>
                <a:tc>
                  <a:txBody>
                    <a:bodyPr/>
                    <a:lstStyle/>
                    <a:p>
                      <a:pPr algn="ctr"/>
                      <a:r>
                        <a:rPr lang="en-US" sz="1600" dirty="0"/>
                        <a:t>100.15</a:t>
                      </a:r>
                    </a:p>
                  </a:txBody>
                  <a:tcPr/>
                </a:tc>
                <a:extLst>
                  <a:ext uri="{0D108BD9-81ED-4DB2-BD59-A6C34878D82A}">
                    <a16:rowId xmlns:a16="http://schemas.microsoft.com/office/drawing/2014/main" val="2367689483"/>
                  </a:ext>
                </a:extLst>
              </a:tr>
              <a:tr h="370840">
                <a:tc>
                  <a:txBody>
                    <a:bodyPr/>
                    <a:lstStyle/>
                    <a:p>
                      <a:pPr algn="ctr"/>
                      <a:r>
                        <a:rPr lang="en-US" sz="1600" dirty="0"/>
                        <a:t>013-t2-20230317.mkv</a:t>
                      </a:r>
                    </a:p>
                  </a:txBody>
                  <a:tcPr/>
                </a:tc>
                <a:tc>
                  <a:txBody>
                    <a:bodyPr/>
                    <a:lstStyle/>
                    <a:p>
                      <a:pPr algn="ctr"/>
                      <a:r>
                        <a:rPr lang="en-US" sz="1600" dirty="0"/>
                        <a:t>0.00</a:t>
                      </a:r>
                    </a:p>
                  </a:txBody>
                  <a:tcPr/>
                </a:tc>
                <a:tc>
                  <a:txBody>
                    <a:bodyPr/>
                    <a:lstStyle/>
                    <a:p>
                      <a:pPr algn="ctr"/>
                      <a:r>
                        <a:rPr lang="en-US" sz="1600" dirty="0"/>
                        <a:t>0,42</a:t>
                      </a:r>
                    </a:p>
                  </a:txBody>
                  <a:tcPr/>
                </a:tc>
                <a:tc>
                  <a:txBody>
                    <a:bodyPr/>
                    <a:lstStyle/>
                    <a:p>
                      <a:pPr algn="ctr"/>
                      <a:r>
                        <a:rPr lang="en-US" sz="1600" dirty="0"/>
                        <a:t>129.10</a:t>
                      </a:r>
                    </a:p>
                  </a:txBody>
                  <a:tcPr/>
                </a:tc>
                <a:extLst>
                  <a:ext uri="{0D108BD9-81ED-4DB2-BD59-A6C34878D82A}">
                    <a16:rowId xmlns:a16="http://schemas.microsoft.com/office/drawing/2014/main" val="3746536487"/>
                  </a:ext>
                </a:extLst>
              </a:tr>
              <a:tr h="370840">
                <a:tc>
                  <a:txBody>
                    <a:bodyPr/>
                    <a:lstStyle/>
                    <a:p>
                      <a:pPr algn="ctr"/>
                      <a:r>
                        <a:rPr lang="en-US" sz="1600" dirty="0"/>
                        <a:t>028-t2-20230322.mkv</a:t>
                      </a:r>
                    </a:p>
                  </a:txBody>
                  <a:tcPr/>
                </a:tc>
                <a:tc>
                  <a:txBody>
                    <a:bodyPr/>
                    <a:lstStyle/>
                    <a:p>
                      <a:pPr algn="ctr"/>
                      <a:r>
                        <a:rPr lang="en-US" sz="1600" dirty="0"/>
                        <a:t>0.00</a:t>
                      </a:r>
                    </a:p>
                  </a:txBody>
                  <a:tcPr/>
                </a:tc>
                <a:tc>
                  <a:txBody>
                    <a:bodyPr/>
                    <a:lstStyle/>
                    <a:p>
                      <a:pPr algn="ctr"/>
                      <a:r>
                        <a:rPr lang="en-US" sz="1600" dirty="0"/>
                        <a:t>0.85</a:t>
                      </a:r>
                    </a:p>
                  </a:txBody>
                  <a:tcPr/>
                </a:tc>
                <a:tc>
                  <a:txBody>
                    <a:bodyPr/>
                    <a:lstStyle/>
                    <a:p>
                      <a:pPr algn="ctr"/>
                      <a:r>
                        <a:rPr lang="en-US" sz="1600" dirty="0"/>
                        <a:t>121.62</a:t>
                      </a:r>
                    </a:p>
                  </a:txBody>
                  <a:tcPr/>
                </a:tc>
                <a:extLst>
                  <a:ext uri="{0D108BD9-81ED-4DB2-BD59-A6C34878D82A}">
                    <a16:rowId xmlns:a16="http://schemas.microsoft.com/office/drawing/2014/main" val="937266976"/>
                  </a:ext>
                </a:extLst>
              </a:tr>
              <a:tr h="370840">
                <a:tc>
                  <a:txBody>
                    <a:bodyPr/>
                    <a:lstStyle/>
                    <a:p>
                      <a:pPr algn="ctr"/>
                      <a:r>
                        <a:rPr lang="en-US" sz="1600" dirty="0"/>
                        <a:t>038-t2-20230303.mkv</a:t>
                      </a:r>
                    </a:p>
                  </a:txBody>
                  <a:tcPr/>
                </a:tc>
                <a:tc>
                  <a:txBody>
                    <a:bodyPr/>
                    <a:lstStyle/>
                    <a:p>
                      <a:pPr algn="ctr"/>
                      <a:r>
                        <a:rPr lang="en-US" sz="1600" dirty="0"/>
                        <a:t>0.00</a:t>
                      </a:r>
                    </a:p>
                  </a:txBody>
                  <a:tcPr/>
                </a:tc>
                <a:tc>
                  <a:txBody>
                    <a:bodyPr/>
                    <a:lstStyle/>
                    <a:p>
                      <a:pPr algn="ctr"/>
                      <a:r>
                        <a:rPr lang="en-US" sz="1600" dirty="0"/>
                        <a:t>0.21</a:t>
                      </a:r>
                    </a:p>
                  </a:txBody>
                  <a:tcPr/>
                </a:tc>
                <a:tc>
                  <a:txBody>
                    <a:bodyPr/>
                    <a:lstStyle/>
                    <a:p>
                      <a:pPr algn="ctr"/>
                      <a:r>
                        <a:rPr lang="en-US" sz="1600" dirty="0"/>
                        <a:t>185.60</a:t>
                      </a:r>
                    </a:p>
                  </a:txBody>
                  <a:tcPr/>
                </a:tc>
                <a:extLst>
                  <a:ext uri="{0D108BD9-81ED-4DB2-BD59-A6C34878D82A}">
                    <a16:rowId xmlns:a16="http://schemas.microsoft.com/office/drawing/2014/main" val="648948392"/>
                  </a:ext>
                </a:extLst>
              </a:tr>
              <a:tr h="370840">
                <a:tc>
                  <a:txBody>
                    <a:bodyPr/>
                    <a:lstStyle/>
                    <a:p>
                      <a:pPr algn="ctr"/>
                      <a:r>
                        <a:rPr lang="en-US" sz="1600" dirty="0"/>
                        <a:t>052-t2-20230704.mkv</a:t>
                      </a:r>
                    </a:p>
                  </a:txBody>
                  <a:tcPr/>
                </a:tc>
                <a:tc>
                  <a:txBody>
                    <a:bodyPr/>
                    <a:lstStyle/>
                    <a:p>
                      <a:pPr algn="ctr"/>
                      <a:r>
                        <a:rPr lang="en-US" sz="1600" dirty="0"/>
                        <a:t>0.00</a:t>
                      </a:r>
                    </a:p>
                  </a:txBody>
                  <a:tcPr/>
                </a:tc>
                <a:tc>
                  <a:txBody>
                    <a:bodyPr/>
                    <a:lstStyle/>
                    <a:p>
                      <a:pPr algn="ctr"/>
                      <a:r>
                        <a:rPr lang="en-US" sz="1600" dirty="0"/>
                        <a:t>14.16</a:t>
                      </a:r>
                    </a:p>
                  </a:txBody>
                  <a:tcPr/>
                </a:tc>
                <a:tc>
                  <a:txBody>
                    <a:bodyPr/>
                    <a:lstStyle/>
                    <a:p>
                      <a:pPr algn="ctr"/>
                      <a:r>
                        <a:rPr lang="en-US" sz="1600" dirty="0"/>
                        <a:t>302.51</a:t>
                      </a:r>
                    </a:p>
                  </a:txBody>
                  <a:tcPr/>
                </a:tc>
                <a:extLst>
                  <a:ext uri="{0D108BD9-81ED-4DB2-BD59-A6C34878D82A}">
                    <a16:rowId xmlns:a16="http://schemas.microsoft.com/office/drawing/2014/main" val="915834717"/>
                  </a:ext>
                </a:extLst>
              </a:tr>
              <a:tr h="370840">
                <a:tc>
                  <a:txBody>
                    <a:bodyPr/>
                    <a:lstStyle/>
                    <a:p>
                      <a:pPr algn="ctr"/>
                      <a:r>
                        <a:rPr lang="en-US" sz="1600" dirty="0"/>
                        <a:t>060-t2-20230703.mkv</a:t>
                      </a:r>
                    </a:p>
                  </a:txBody>
                  <a:tcPr/>
                </a:tc>
                <a:tc>
                  <a:txBody>
                    <a:bodyPr/>
                    <a:lstStyle/>
                    <a:p>
                      <a:pPr algn="ctr"/>
                      <a:r>
                        <a:rPr lang="en-US" sz="1600" dirty="0"/>
                        <a:t>0.00</a:t>
                      </a:r>
                    </a:p>
                  </a:txBody>
                  <a:tcPr/>
                </a:tc>
                <a:tc>
                  <a:txBody>
                    <a:bodyPr/>
                    <a:lstStyle/>
                    <a:p>
                      <a:pPr algn="ctr"/>
                      <a:r>
                        <a:rPr lang="en-US" sz="1600" dirty="0"/>
                        <a:t>0.45</a:t>
                      </a:r>
                    </a:p>
                  </a:txBody>
                  <a:tcPr/>
                </a:tc>
                <a:tc>
                  <a:txBody>
                    <a:bodyPr/>
                    <a:lstStyle/>
                    <a:p>
                      <a:pPr algn="ctr"/>
                      <a:r>
                        <a:rPr lang="en-US" sz="1600" dirty="0"/>
                        <a:t>100.00</a:t>
                      </a:r>
                    </a:p>
                  </a:txBody>
                  <a:tcPr/>
                </a:tc>
                <a:extLst>
                  <a:ext uri="{0D108BD9-81ED-4DB2-BD59-A6C34878D82A}">
                    <a16:rowId xmlns:a16="http://schemas.microsoft.com/office/drawing/2014/main" val="912232240"/>
                  </a:ext>
                </a:extLst>
              </a:tr>
              <a:tr h="370840">
                <a:tc>
                  <a:txBody>
                    <a:bodyPr/>
                    <a:lstStyle/>
                    <a:p>
                      <a:pPr algn="ctr"/>
                      <a:r>
                        <a:rPr lang="en-US" sz="1600" dirty="0"/>
                        <a:t>071-t2-20230804.mkv</a:t>
                      </a:r>
                    </a:p>
                  </a:txBody>
                  <a:tcPr/>
                </a:tc>
                <a:tc>
                  <a:txBody>
                    <a:bodyPr/>
                    <a:lstStyle/>
                    <a:p>
                      <a:pPr algn="ctr"/>
                      <a:r>
                        <a:rPr lang="en-US" sz="1600" dirty="0"/>
                        <a:t>0.00</a:t>
                      </a:r>
                    </a:p>
                  </a:txBody>
                  <a:tcPr/>
                </a:tc>
                <a:tc>
                  <a:txBody>
                    <a:bodyPr/>
                    <a:lstStyle/>
                    <a:p>
                      <a:pPr algn="ctr"/>
                      <a:r>
                        <a:rPr lang="en-US" sz="1600" dirty="0"/>
                        <a:t>0.82</a:t>
                      </a:r>
                    </a:p>
                  </a:txBody>
                  <a:tcPr/>
                </a:tc>
                <a:tc>
                  <a:txBody>
                    <a:bodyPr/>
                    <a:lstStyle/>
                    <a:p>
                      <a:pPr algn="ctr"/>
                      <a:r>
                        <a:rPr lang="en-US" sz="1600" dirty="0"/>
                        <a:t>103.50</a:t>
                      </a:r>
                    </a:p>
                  </a:txBody>
                  <a:tcPr/>
                </a:tc>
                <a:extLst>
                  <a:ext uri="{0D108BD9-81ED-4DB2-BD59-A6C34878D82A}">
                    <a16:rowId xmlns:a16="http://schemas.microsoft.com/office/drawing/2014/main" val="2966078600"/>
                  </a:ext>
                </a:extLst>
              </a:tr>
            </a:tbl>
          </a:graphicData>
        </a:graphic>
      </p:graphicFrame>
    </p:spTree>
    <p:extLst>
      <p:ext uri="{BB962C8B-B14F-4D97-AF65-F5344CB8AC3E}">
        <p14:creationId xmlns:p14="http://schemas.microsoft.com/office/powerpoint/2010/main" val="2794489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6958-B947-42D6-AB7E-9C82196BB2B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Pose Estimation Accuracy</a:t>
            </a:r>
          </a:p>
        </p:txBody>
      </p:sp>
      <p:pic>
        <p:nvPicPr>
          <p:cNvPr id="5" name="Content Placeholder 4" descr="A person sitting on a person's back&#10;&#10;AI-generated content may be incorrect.">
            <a:extLst>
              <a:ext uri="{FF2B5EF4-FFF2-40B4-BE49-F238E27FC236}">
                <a16:creationId xmlns:a16="http://schemas.microsoft.com/office/drawing/2014/main" id="{71B26C16-E303-4F3C-B1D5-E4798DEB7D0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72000" y="1401320"/>
            <a:ext cx="4344483" cy="2443772"/>
          </a:xfrm>
        </p:spPr>
      </p:pic>
      <p:pic>
        <p:nvPicPr>
          <p:cNvPr id="7" name="Picture 6" descr="A silhouette of two people&#10;&#10;AI-generated content may be incorrect.">
            <a:extLst>
              <a:ext uri="{FF2B5EF4-FFF2-40B4-BE49-F238E27FC236}">
                <a16:creationId xmlns:a16="http://schemas.microsoft.com/office/drawing/2014/main" id="{5C26946B-6930-4E34-B2DB-688F47C281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04" y="1401320"/>
            <a:ext cx="4344483" cy="2443772"/>
          </a:xfrm>
          <a:prstGeom prst="rect">
            <a:avLst/>
          </a:prstGeom>
        </p:spPr>
      </p:pic>
    </p:spTree>
    <p:extLst>
      <p:ext uri="{BB962C8B-B14F-4D97-AF65-F5344CB8AC3E}">
        <p14:creationId xmlns:p14="http://schemas.microsoft.com/office/powerpoint/2010/main" val="247994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FCD70-EF00-4F63-BE91-809A248424D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Performance of Each Method</a:t>
            </a:r>
          </a:p>
        </p:txBody>
      </p:sp>
      <p:sp>
        <p:nvSpPr>
          <p:cNvPr id="3" name="Content Placeholder 2">
            <a:extLst>
              <a:ext uri="{FF2B5EF4-FFF2-40B4-BE49-F238E27FC236}">
                <a16:creationId xmlns:a16="http://schemas.microsoft.com/office/drawing/2014/main" id="{070EED96-D10D-472F-AA67-26737662C959}"/>
              </a:ext>
            </a:extLst>
          </p:cNvPr>
          <p:cNvSpPr>
            <a:spLocks noGrp="1"/>
          </p:cNvSpPr>
          <p:nvPr>
            <p:ph sz="half" idx="1"/>
          </p:nvPr>
        </p:nvSpPr>
        <p:spPr/>
        <p:txBody>
          <a:bodyPr/>
          <a:lstStyle/>
          <a:p>
            <a:r>
              <a:rPr lang="en-US" sz="2000" dirty="0">
                <a:latin typeface="Times New Roman" panose="02020603050405020304" pitchFamily="18" charset="0"/>
                <a:cs typeface="Times New Roman" panose="02020603050405020304" pitchFamily="18" charset="0"/>
              </a:rPr>
              <a:t>Method 1 — Full Depth (Lossless)</a:t>
            </a:r>
          </a:p>
          <a:p>
            <a:r>
              <a:rPr lang="en-US" sz="1600" dirty="0">
                <a:latin typeface="Times New Roman" panose="02020603050405020304" pitchFamily="18" charset="0"/>
                <a:cs typeface="Times New Roman" panose="02020603050405020304" pitchFamily="18" charset="0"/>
              </a:rPr>
              <a:t>Accurate</a:t>
            </a:r>
          </a:p>
          <a:p>
            <a:r>
              <a:rPr lang="en-US" sz="1600" dirty="0">
                <a:latin typeface="Times New Roman" panose="02020603050405020304" pitchFamily="18" charset="0"/>
                <a:cs typeface="Times New Roman" panose="02020603050405020304" pitchFamily="18" charset="0"/>
              </a:rPr>
              <a:t>Fast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Method 2 — Body Frame</a:t>
            </a:r>
          </a:p>
          <a:p>
            <a:r>
              <a:rPr lang="en-US" sz="1600" dirty="0">
                <a:latin typeface="Times New Roman" panose="02020603050405020304" pitchFamily="18" charset="0"/>
                <a:cs typeface="Times New Roman" panose="02020603050405020304" pitchFamily="18" charset="0"/>
              </a:rPr>
              <a:t>Highest efficiency</a:t>
            </a:r>
          </a:p>
          <a:p>
            <a:r>
              <a:rPr lang="en-US" sz="1600" dirty="0">
                <a:latin typeface="Times New Roman" panose="02020603050405020304" pitchFamily="18" charset="0"/>
                <a:cs typeface="Times New Roman" panose="02020603050405020304" pitchFamily="18" charset="0"/>
              </a:rPr>
              <a:t>Accurate</a:t>
            </a:r>
          </a:p>
          <a:p>
            <a:endParaRPr lang="en-US" dirty="0"/>
          </a:p>
        </p:txBody>
      </p:sp>
      <p:sp>
        <p:nvSpPr>
          <p:cNvPr id="4" name="Content Placeholder 3">
            <a:extLst>
              <a:ext uri="{FF2B5EF4-FFF2-40B4-BE49-F238E27FC236}">
                <a16:creationId xmlns:a16="http://schemas.microsoft.com/office/drawing/2014/main" id="{A33B5E01-8CC6-49D4-89FB-C87A9B9217EB}"/>
              </a:ext>
            </a:extLst>
          </p:cNvPr>
          <p:cNvSpPr>
            <a:spLocks noGrp="1"/>
          </p:cNvSpPr>
          <p:nvPr>
            <p:ph sz="half" idx="2"/>
          </p:nvPr>
        </p:nvSpPr>
        <p:spPr/>
        <p:txBody>
          <a:bodyPr/>
          <a:lstStyle/>
          <a:p>
            <a:r>
              <a:rPr lang="en-US" dirty="0">
                <a:latin typeface="Times New Roman" panose="02020603050405020304" pitchFamily="18" charset="0"/>
                <a:cs typeface="Times New Roman" panose="02020603050405020304" pitchFamily="18" charset="0"/>
              </a:rPr>
              <a:t>Method 3 — Octree</a:t>
            </a:r>
          </a:p>
          <a:p>
            <a:r>
              <a:rPr lang="en-US" dirty="0">
                <a:latin typeface="Times New Roman" panose="02020603050405020304" pitchFamily="18" charset="0"/>
                <a:cs typeface="Times New Roman" panose="02020603050405020304" pitchFamily="18" charset="0"/>
              </a:rPr>
              <a:t>Good visual quality</a:t>
            </a:r>
          </a:p>
          <a:p>
            <a:r>
              <a:rPr lang="en-US" dirty="0">
                <a:latin typeface="Times New Roman" panose="02020603050405020304" pitchFamily="18" charset="0"/>
                <a:cs typeface="Times New Roman" panose="02020603050405020304" pitchFamily="18" charset="0"/>
              </a:rPr>
              <a:t>Slower and heavier to generate</a:t>
            </a:r>
          </a:p>
          <a:p>
            <a:endParaRPr lang="en-US" dirty="0"/>
          </a:p>
        </p:txBody>
      </p:sp>
    </p:spTree>
    <p:extLst>
      <p:ext uri="{BB962C8B-B14F-4D97-AF65-F5344CB8AC3E}">
        <p14:creationId xmlns:p14="http://schemas.microsoft.com/office/powerpoint/2010/main" val="17926020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0EF0D-C6A7-482D-9F66-068C8CC9CD2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D67C3E6-26A6-4373-92A4-E2F160115ACA}"/>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Method 2 (Body Frame Compression) is the best performing method</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Achieves high </a:t>
            </a:r>
            <a:r>
              <a:rPr lang="en-US" sz="2000" b="1" dirty="0">
                <a:latin typeface="Times New Roman" panose="02020603050405020304" pitchFamily="18" charset="0"/>
                <a:cs typeface="Times New Roman" panose="02020603050405020304" pitchFamily="18" charset="0"/>
              </a:rPr>
              <a:t>compression rate &amp; high accuracy</a:t>
            </a:r>
            <a:r>
              <a:rPr lang="en-US" sz="2000" dirty="0">
                <a:latin typeface="Times New Roman" panose="02020603050405020304" pitchFamily="18" charset="0"/>
                <a:cs typeface="Times New Roman" panose="02020603050405020304" pitchFamily="18" charset="0"/>
              </a:rPr>
              <a:t> in 3D coordinate estimation</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8839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81D47-F1D8-4578-995C-72B4876AE2F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4FF50894-ABD8-4CCB-AF70-D6E8FFC39D13}"/>
              </a:ext>
            </a:extLst>
          </p:cNvPr>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rPr>
              <a:t>Improve octree encoding reconstruction.</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Evaluate the effect of compression using different ML models, such as depression detection models.</a:t>
            </a:r>
          </a:p>
          <a:p>
            <a:endParaRPr lang="en-US" b="1" dirty="0"/>
          </a:p>
          <a:p>
            <a:endParaRPr lang="en-US" b="1" dirty="0"/>
          </a:p>
        </p:txBody>
      </p:sp>
    </p:spTree>
    <p:extLst>
      <p:ext uri="{BB962C8B-B14F-4D97-AF65-F5344CB8AC3E}">
        <p14:creationId xmlns:p14="http://schemas.microsoft.com/office/powerpoint/2010/main" val="2824662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0E04-5575-403B-97AD-FE911F9C889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82FD6584-5FE8-4FDF-8CC2-7EC8DDB6DF82}"/>
              </a:ext>
            </a:extLst>
          </p:cNvPr>
          <p:cNvSpPr>
            <a:spLocks noGrp="1"/>
          </p:cNvSpPr>
          <p:nvPr>
            <p:ph idx="1"/>
          </p:nvPr>
        </p:nvSpPr>
        <p:spPr/>
        <p:txBody>
          <a:bodyPr>
            <a:normAutofit lnSpcReduction="10000"/>
          </a:bodyPr>
          <a:lstStyle/>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K. Müller, P. Merkle, and T. Wiegand, “3‑D Video Representation Using Depth Maps,” </a:t>
            </a:r>
            <a:r>
              <a:rPr lang="en-US" sz="1600" i="1" dirty="0">
                <a:latin typeface="Times New Roman" panose="02020603050405020304" pitchFamily="18" charset="0"/>
                <a:cs typeface="Times New Roman" panose="02020603050405020304" pitchFamily="18" charset="0"/>
              </a:rPr>
              <a:t>Proceedings of the IEEE</a:t>
            </a:r>
            <a:r>
              <a:rPr lang="en-US" sz="1600" dirty="0">
                <a:latin typeface="Times New Roman" panose="02020603050405020304" pitchFamily="18" charset="0"/>
                <a:cs typeface="Times New Roman" panose="02020603050405020304" pitchFamily="18" charset="0"/>
              </a:rPr>
              <a:t>, vol. 99, no. 4, pp. 643–656, Apr. 2011. </a:t>
            </a:r>
          </a:p>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Kyung Yong Kim, </a:t>
            </a:r>
            <a:r>
              <a:rPr lang="en-US" sz="1600" dirty="0" err="1">
                <a:latin typeface="Times New Roman" panose="02020603050405020304" pitchFamily="18" charset="0"/>
                <a:cs typeface="Times New Roman" panose="02020603050405020304" pitchFamily="18" charset="0"/>
              </a:rPr>
              <a:t>Gwang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Hoon</a:t>
            </a:r>
            <a:r>
              <a:rPr lang="en-US" sz="1600" dirty="0">
                <a:latin typeface="Times New Roman" panose="02020603050405020304" pitchFamily="18" charset="0"/>
                <a:cs typeface="Times New Roman" panose="02020603050405020304" pitchFamily="18" charset="0"/>
              </a:rPr>
              <a:t> Park, and Doug Young Suh, “Adaptive Depth‑Map Coding for 3D‑Video,” </a:t>
            </a:r>
            <a:r>
              <a:rPr lang="en-US" sz="1600" i="1" dirty="0">
                <a:latin typeface="Times New Roman" panose="02020603050405020304" pitchFamily="18" charset="0"/>
                <a:cs typeface="Times New Roman" panose="02020603050405020304" pitchFamily="18" charset="0"/>
              </a:rPr>
              <a:t>IEICE Transactions on Information and Systems</a:t>
            </a:r>
            <a:r>
              <a:rPr lang="en-US" sz="1600" dirty="0">
                <a:latin typeface="Times New Roman" panose="02020603050405020304" pitchFamily="18" charset="0"/>
                <a:cs typeface="Times New Roman" panose="02020603050405020304" pitchFamily="18" charset="0"/>
              </a:rPr>
              <a:t>, vol. E93‑D, no. 8, pp. 2262–2272, 2010.</a:t>
            </a:r>
          </a:p>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P. Henry, M. </a:t>
            </a:r>
            <a:r>
              <a:rPr lang="en-US" sz="1600" dirty="0" err="1">
                <a:latin typeface="Times New Roman" panose="02020603050405020304" pitchFamily="18" charset="0"/>
                <a:cs typeface="Times New Roman" panose="02020603050405020304" pitchFamily="18" charset="0"/>
              </a:rPr>
              <a:t>Krainin</a:t>
            </a:r>
            <a:r>
              <a:rPr lang="en-US" sz="1600" dirty="0">
                <a:latin typeface="Times New Roman" panose="02020603050405020304" pitchFamily="18" charset="0"/>
                <a:cs typeface="Times New Roman" panose="02020603050405020304" pitchFamily="18" charset="0"/>
              </a:rPr>
              <a:t>, E. Herbst, X. Ren and D. Fox, “RGB‑D Mapping: Using Depth Cameras for Dense 3D Modeling of Indoor Environments,” 2010.</a:t>
            </a:r>
          </a:p>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C.‑H. Chen et al., “Dense 3D Environment Reconstruction with an RGB‑D Camera for Mobile Robot,” in Proc. International PhD Conf. on Safe and Social Robotics (SSR), 2018.</a:t>
            </a:r>
          </a:p>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T. </a:t>
            </a:r>
            <a:r>
              <a:rPr lang="en-US" sz="1600" dirty="0" err="1">
                <a:latin typeface="Times New Roman" panose="02020603050405020304" pitchFamily="18" charset="0"/>
                <a:cs typeface="Times New Roman" panose="02020603050405020304" pitchFamily="18" charset="0"/>
              </a:rPr>
              <a:t>Boutell</a:t>
            </a:r>
            <a:r>
              <a:rPr lang="en-US" sz="1600" dirty="0">
                <a:latin typeface="Times New Roman" panose="02020603050405020304" pitchFamily="18" charset="0"/>
                <a:cs typeface="Times New Roman" panose="02020603050405020304" pitchFamily="18" charset="0"/>
              </a:rPr>
              <a:t> and G. Lane, </a:t>
            </a:r>
            <a:r>
              <a:rPr lang="en-US" sz="1600" i="1" dirty="0">
                <a:latin typeface="Times New Roman" panose="02020603050405020304" pitchFamily="18" charset="0"/>
                <a:cs typeface="Times New Roman" panose="02020603050405020304" pitchFamily="18" charset="0"/>
              </a:rPr>
              <a:t>PNG (Portable Network Graphics) Specification, Version 1.2</a:t>
            </a:r>
            <a:r>
              <a:rPr lang="en-US" sz="1600" dirty="0">
                <a:latin typeface="Times New Roman" panose="02020603050405020304" pitchFamily="18" charset="0"/>
                <a:cs typeface="Times New Roman" panose="02020603050405020304" pitchFamily="18" charset="0"/>
              </a:rPr>
              <a:t>. W3C/PNG Development Group, 1999.</a:t>
            </a:r>
          </a:p>
          <a:p>
            <a:pPr marL="457200" indent="-457200">
              <a:buFont typeface="+mj-lt"/>
              <a:buAutoNum type="arabicPeriod"/>
            </a:pPr>
            <a:r>
              <a:rPr lang="en-US" sz="1600" dirty="0">
                <a:latin typeface="Times New Roman" panose="02020603050405020304" pitchFamily="18" charset="0"/>
                <a:cs typeface="Times New Roman" panose="02020603050405020304" pitchFamily="18" charset="0"/>
              </a:rPr>
              <a:t>P. </a:t>
            </a:r>
            <a:r>
              <a:rPr lang="en-US" sz="1600" dirty="0" err="1">
                <a:latin typeface="Times New Roman" panose="02020603050405020304" pitchFamily="18" charset="0"/>
                <a:cs typeface="Times New Roman" panose="02020603050405020304" pitchFamily="18" charset="0"/>
              </a:rPr>
              <a:t>Jangbari</a:t>
            </a:r>
            <a:r>
              <a:rPr lang="en-US" sz="1600" dirty="0">
                <a:latin typeface="Times New Roman" panose="02020603050405020304" pitchFamily="18" charset="0"/>
                <a:cs typeface="Times New Roman" panose="02020603050405020304" pitchFamily="18" charset="0"/>
              </a:rPr>
              <a:t> and D. Patel, “Review on region of interest coding techniques for medical image compression,” International Journal of Computer Applications, vol. 134, pp. 1–5, 2016.</a:t>
            </a:r>
          </a:p>
          <a:p>
            <a:pPr marL="457200" indent="-457200">
              <a:buFont typeface="+mj-lt"/>
              <a:buAutoNum type="arabicPeriod"/>
            </a:pPr>
            <a:endParaRPr lang="en-US" sz="105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105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33563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0E04-5575-403B-97AD-FE911F9C889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82FD6584-5FE8-4FDF-8CC2-7EC8DDB6DF82}"/>
              </a:ext>
            </a:extLst>
          </p:cNvPr>
          <p:cNvSpPr>
            <a:spLocks noGrp="1"/>
          </p:cNvSpPr>
          <p:nvPr>
            <p:ph idx="1"/>
          </p:nvPr>
        </p:nvSpPr>
        <p:spPr>
          <a:xfrm>
            <a:off x="457200" y="987574"/>
            <a:ext cx="8229600" cy="3384376"/>
          </a:xfrm>
        </p:spPr>
        <p:txBody>
          <a:bodyPr>
            <a:normAutofit lnSpcReduction="10000"/>
          </a:bodyPr>
          <a:lstStyle/>
          <a:p>
            <a:pPr marL="457200" indent="-457200">
              <a:buFont typeface="+mj-lt"/>
              <a:buAutoNum type="arabicPeriod" startAt="7"/>
            </a:pPr>
            <a:r>
              <a:rPr lang="en-US" sz="1600" dirty="0">
                <a:latin typeface="Times New Roman" panose="02020603050405020304" pitchFamily="18" charset="0"/>
                <a:cs typeface="Times New Roman" panose="02020603050405020304" pitchFamily="18" charset="0"/>
              </a:rPr>
              <a:t>M. </a:t>
            </a:r>
            <a:r>
              <a:rPr lang="en-US" sz="1600" dirty="0" err="1">
                <a:latin typeface="Times New Roman" panose="02020603050405020304" pitchFamily="18" charset="0"/>
                <a:cs typeface="Times New Roman" panose="02020603050405020304" pitchFamily="18" charset="0"/>
              </a:rPr>
              <a:t>Keinert</a:t>
            </a:r>
            <a:r>
              <a:rPr lang="en-US" sz="1600" dirty="0">
                <a:latin typeface="Times New Roman" panose="02020603050405020304" pitchFamily="18" charset="0"/>
                <a:cs typeface="Times New Roman" panose="02020603050405020304" pitchFamily="18" charset="0"/>
              </a:rPr>
              <a:t>, L. Schindler-</a:t>
            </a:r>
            <a:r>
              <a:rPr lang="en-US" sz="1600" dirty="0" err="1">
                <a:latin typeface="Times New Roman" panose="02020603050405020304" pitchFamily="18" charset="0"/>
                <a:cs typeface="Times New Roman" panose="02020603050405020304" pitchFamily="18" charset="0"/>
              </a:rPr>
              <a:t>Gmelch</a:t>
            </a:r>
            <a:r>
              <a:rPr lang="en-US" sz="1600" dirty="0">
                <a:latin typeface="Times New Roman" panose="02020603050405020304" pitchFamily="18" charset="0"/>
                <a:cs typeface="Times New Roman" panose="02020603050405020304" pitchFamily="18" charset="0"/>
              </a:rPr>
              <a:t>, L. H. Rupp, M. Sadeghi, K. Capito, M. Hager, F. Rahimi, R. Richer, B. Egger, B. M. </a:t>
            </a:r>
            <a:r>
              <a:rPr lang="en-US" sz="1600" dirty="0" err="1">
                <a:latin typeface="Times New Roman" panose="02020603050405020304" pitchFamily="18" charset="0"/>
                <a:cs typeface="Times New Roman" panose="02020603050405020304" pitchFamily="18" charset="0"/>
              </a:rPr>
              <a:t>Eskofier</a:t>
            </a:r>
            <a:r>
              <a:rPr lang="en-US" sz="1600" dirty="0">
                <a:latin typeface="Times New Roman" panose="02020603050405020304" pitchFamily="18" charset="0"/>
                <a:cs typeface="Times New Roman" panose="02020603050405020304" pitchFamily="18" charset="0"/>
              </a:rPr>
              <a:t>, and M. </a:t>
            </a:r>
            <a:r>
              <a:rPr lang="en-US" sz="1600" dirty="0" err="1">
                <a:latin typeface="Times New Roman" panose="02020603050405020304" pitchFamily="18" charset="0"/>
                <a:cs typeface="Times New Roman" panose="02020603050405020304" pitchFamily="18" charset="0"/>
              </a:rPr>
              <a:t>Berking</a:t>
            </a:r>
            <a:r>
              <a:rPr lang="en-US" sz="1600" dirty="0">
                <a:latin typeface="Times New Roman" panose="02020603050405020304" pitchFamily="18" charset="0"/>
                <a:cs typeface="Times New Roman" panose="02020603050405020304" pitchFamily="18" charset="0"/>
              </a:rPr>
              <a:t>, “Facing depression: evaluating the efficacy of the </a:t>
            </a:r>
            <a:r>
              <a:rPr lang="en-US" sz="1600" dirty="0" err="1">
                <a:latin typeface="Times New Roman" panose="02020603050405020304" pitchFamily="18" charset="0"/>
                <a:cs typeface="Times New Roman" panose="02020603050405020304" pitchFamily="18" charset="0"/>
              </a:rPr>
              <a:t>empkins-ekspression</a:t>
            </a:r>
            <a:r>
              <a:rPr lang="en-US" sz="1600" dirty="0">
                <a:latin typeface="Times New Roman" panose="02020603050405020304" pitchFamily="18" charset="0"/>
                <a:cs typeface="Times New Roman" panose="02020603050405020304" pitchFamily="18" charset="0"/>
              </a:rPr>
              <a:t> reappraisal training augmented with facial expressions – protocol of a randomized controlled trial,” BMC Psychiatry, vol. 24, p. 896, 2024.</a:t>
            </a:r>
          </a:p>
          <a:p>
            <a:pPr marL="457200" indent="-457200">
              <a:buFont typeface="+mj-lt"/>
              <a:buAutoNum type="arabicPeriod" startAt="7"/>
            </a:pPr>
            <a:r>
              <a:rPr lang="en-US" sz="1600" dirty="0">
                <a:latin typeface="Times New Roman" panose="02020603050405020304" pitchFamily="18" charset="0"/>
                <a:cs typeface="Times New Roman" panose="02020603050405020304" pitchFamily="18" charset="0"/>
              </a:rPr>
              <a:t>T. </a:t>
            </a:r>
            <a:r>
              <a:rPr lang="en-US" sz="1600" dirty="0" err="1">
                <a:latin typeface="Times New Roman" panose="02020603050405020304" pitchFamily="18" charset="0"/>
                <a:cs typeface="Times New Roman" panose="02020603050405020304" pitchFamily="18" charset="0"/>
              </a:rPr>
              <a:t>Boutell</a:t>
            </a:r>
            <a:r>
              <a:rPr lang="en-US" sz="1600" dirty="0">
                <a:latin typeface="Times New Roman" panose="02020603050405020304" pitchFamily="18" charset="0"/>
                <a:cs typeface="Times New Roman" panose="02020603050405020304" pitchFamily="18" charset="0"/>
              </a:rPr>
              <a:t> and G. Lane, PNG (Portable Network Graphics) Specification Version 1.0, ISO/IEC 15948:2003, W3C, 2003.</a:t>
            </a:r>
          </a:p>
          <a:p>
            <a:pPr marL="457200" indent="-457200">
              <a:buFont typeface="+mj-lt"/>
              <a:buAutoNum type="arabicPeriod" startAt="7"/>
            </a:pPr>
            <a:r>
              <a:rPr lang="en-US" sz="1600" dirty="0">
                <a:latin typeface="Times New Roman" panose="02020603050405020304" pitchFamily="18" charset="0"/>
                <a:cs typeface="Times New Roman" panose="02020603050405020304" pitchFamily="18" charset="0"/>
              </a:rPr>
              <a:t>T. Zhou, F. </a:t>
            </a:r>
            <a:r>
              <a:rPr lang="en-US" sz="1600" dirty="0" err="1">
                <a:latin typeface="Times New Roman" panose="02020603050405020304" pitchFamily="18" charset="0"/>
                <a:cs typeface="Times New Roman" panose="02020603050405020304" pitchFamily="18" charset="0"/>
              </a:rPr>
              <a:t>Porikli</a:t>
            </a:r>
            <a:r>
              <a:rPr lang="en-US" sz="1600" dirty="0">
                <a:latin typeface="Times New Roman" panose="02020603050405020304" pitchFamily="18" charset="0"/>
                <a:cs typeface="Times New Roman" panose="02020603050405020304" pitchFamily="18" charset="0"/>
              </a:rPr>
              <a:t>, D. J. Crandall, L. Van Gool and W. Wang, “Deep learning for video object segmentation: a review,” Artificial Intelligence Review, vol. 56, pp. 457–531, 2023.</a:t>
            </a:r>
          </a:p>
          <a:p>
            <a:pPr marL="457200" indent="-457200">
              <a:buFont typeface="+mj-lt"/>
              <a:buAutoNum type="arabicPeriod" startAt="7"/>
            </a:pPr>
            <a:r>
              <a:rPr lang="en-US" sz="1600" dirty="0">
                <a:latin typeface="Times New Roman" panose="02020603050405020304" pitchFamily="18" charset="0"/>
                <a:cs typeface="Times New Roman" panose="02020603050405020304" pitchFamily="18" charset="0"/>
              </a:rPr>
              <a:t>W. Wang and U. Neumann, “Depth-aware CNN for RGB-D Segmentation,” in Proc. European Conference on Computer Vision (ECCV), 2018, pp. 135–150.</a:t>
            </a:r>
          </a:p>
          <a:p>
            <a:pPr marL="457200" indent="-457200">
              <a:buFont typeface="+mj-lt"/>
              <a:buAutoNum type="arabicPeriod" startAt="7"/>
            </a:pPr>
            <a:r>
              <a:rPr lang="en-US" sz="1600" dirty="0">
                <a:latin typeface="Times New Roman" panose="02020603050405020304" pitchFamily="18" charset="0"/>
                <a:cs typeface="Times New Roman" panose="02020603050405020304" pitchFamily="18" charset="0"/>
              </a:rPr>
              <a:t>L. Liu, Z. Hu, and Z. Chen, “Towards point cloud compression for machine perception: A simple and strong baseline by learning the octree depth level predictor,”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preprint arXiv:2406.00791, 2024.</a:t>
            </a:r>
          </a:p>
          <a:p>
            <a:pPr marL="457200" indent="-457200">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457200" indent="-457200">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457200" indent="-457200">
              <a:buFont typeface="+mj-lt"/>
              <a:buAutoNum type="arabicPeriod" startAt="7"/>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4961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9B18F-A2F2-402C-9F2F-471A9C9CC2EF}"/>
              </a:ext>
            </a:extLst>
          </p:cNvPr>
          <p:cNvSpPr>
            <a:spLocks noGrp="1"/>
          </p:cNvSpPr>
          <p:nvPr>
            <p:ph type="title"/>
          </p:nvPr>
        </p:nvSpPr>
        <p:spPr>
          <a:xfrm>
            <a:off x="457200" y="123478"/>
            <a:ext cx="8229600" cy="565175"/>
          </a:xfrm>
        </p:spPr>
        <p:txBody>
          <a:bodyPr anchor="ctr">
            <a:normAutofit/>
          </a:bodyPr>
          <a:lstStyle/>
          <a:p>
            <a:r>
              <a:rPr lang="en-US" dirty="0">
                <a:latin typeface="Times New Roman" panose="02020603050405020304" pitchFamily="18" charset="0"/>
                <a:cs typeface="Times New Roman" panose="02020603050405020304" pitchFamily="18" charset="0"/>
              </a:rPr>
              <a:t>Thank you! I’m happy to take any questions.</a:t>
            </a:r>
          </a:p>
        </p:txBody>
      </p:sp>
      <p:pic>
        <p:nvPicPr>
          <p:cNvPr id="4" name="Graphic 6" descr="Smiling Face with No Fill">
            <a:extLst>
              <a:ext uri="{FF2B5EF4-FFF2-40B4-BE49-F238E27FC236}">
                <a16:creationId xmlns:a16="http://schemas.microsoft.com/office/drawing/2014/main" id="{37A794D0-BA39-D450-7924-1E413B4F2040}"/>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79812" y="987575"/>
            <a:ext cx="3384376" cy="3384376"/>
          </a:xfrm>
        </p:spPr>
      </p:pic>
    </p:spTree>
    <p:extLst>
      <p:ext uri="{BB962C8B-B14F-4D97-AF65-F5344CB8AC3E}">
        <p14:creationId xmlns:p14="http://schemas.microsoft.com/office/powerpoint/2010/main" val="3838333951"/>
      </p:ext>
    </p:extLst>
  </p:cSld>
  <p:clrMapOvr>
    <a:masterClrMapping/>
  </p:clrMapOvr>
</p:sld>
</file>

<file path=ppt/theme/theme1.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enutzerdefiniertes 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1642</Words>
  <Application>Microsoft Office PowerPoint</Application>
  <PresentationFormat>On-screen Show (16:9)</PresentationFormat>
  <Paragraphs>239</Paragraphs>
  <Slides>37</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Arial</vt:lpstr>
      <vt:lpstr>Calibri</vt:lpstr>
      <vt:lpstr>Cambria Math</vt:lpstr>
      <vt:lpstr>Courier New</vt:lpstr>
      <vt:lpstr>Times New Roman</vt:lpstr>
      <vt:lpstr>Larissa</vt:lpstr>
      <vt:lpstr>Benutzerdefiniertes Design</vt:lpstr>
      <vt:lpstr>Coding of 3D Kinect Depth Video for Capturing Affective States</vt:lpstr>
      <vt:lpstr>Agenda</vt:lpstr>
      <vt:lpstr>Introduction</vt:lpstr>
      <vt:lpstr>Introduction</vt:lpstr>
      <vt:lpstr>Introduction</vt:lpstr>
      <vt:lpstr>Introduction</vt:lpstr>
      <vt:lpstr>Experimental Methods</vt:lpstr>
      <vt:lpstr>Dataset Description</vt:lpstr>
      <vt:lpstr>Depth Image compression</vt:lpstr>
      <vt:lpstr>Depth Image compression</vt:lpstr>
      <vt:lpstr>ROI (Region of Interest) Compression</vt:lpstr>
      <vt:lpstr>ROI (Region of Interest) Compression</vt:lpstr>
      <vt:lpstr>AI-Based Segmentation</vt:lpstr>
      <vt:lpstr>AI-Based Segmentation</vt:lpstr>
      <vt:lpstr>AI-Based Segmentation</vt:lpstr>
      <vt:lpstr>Octree-Based Compression</vt:lpstr>
      <vt:lpstr>Octree-Based Compression</vt:lpstr>
      <vt:lpstr>Process Framework (Method 1)</vt:lpstr>
      <vt:lpstr>Process Framework (Method 2)</vt:lpstr>
      <vt:lpstr>Process Framework (Method 2)</vt:lpstr>
      <vt:lpstr>Process Framework (Method 3)</vt:lpstr>
      <vt:lpstr>Process Framework (Method 3)</vt:lpstr>
      <vt:lpstr>Evaluation Metrics</vt:lpstr>
      <vt:lpstr>Evaluation Metrics</vt:lpstr>
      <vt:lpstr>Rate–Distortion Analysis</vt:lpstr>
      <vt:lpstr>AI-Based Human Pose Evaluation</vt:lpstr>
      <vt:lpstr>3D Pose Reconstruction Pipeline</vt:lpstr>
      <vt:lpstr>2D Keypoint Estimation</vt:lpstr>
      <vt:lpstr>2D → 3D Mapping</vt:lpstr>
      <vt:lpstr>Pose Estimation Accuracy (RMSE)</vt:lpstr>
      <vt:lpstr>Pose Estimation Accuracy</vt:lpstr>
      <vt:lpstr>Performance of Each Method</vt:lpstr>
      <vt:lpstr>Conclusion</vt:lpstr>
      <vt:lpstr>Future Work</vt:lpstr>
      <vt:lpstr>References</vt:lpstr>
      <vt:lpstr>References</vt:lpstr>
      <vt:lpstr>Thank you! I’m happy to take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Anna</dc:creator>
  <cp:lastModifiedBy>Otour, Khaled</cp:lastModifiedBy>
  <cp:revision>163</cp:revision>
  <dcterms:created xsi:type="dcterms:W3CDTF">2014-04-16T13:22:23Z</dcterms:created>
  <dcterms:modified xsi:type="dcterms:W3CDTF">2025-12-08T08:27:23Z</dcterms:modified>
</cp:coreProperties>
</file>